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151515"/>
                </a:solidFill>
                <a:latin typeface="Calibri"/>
              </a:defRPr>
            </a:pPr>
            <a:r>
              <a:t>ATLAS COPCO</a:t>
            </a:r>
          </a:p>
        </p:txBody>
      </p:sp>
      <p:pic>
        <p:nvPicPr>
          <p:cNvPr id="5" name="Picture 4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228600"/>
            <a:ext cx="502920" cy="5425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463040"/>
            <a:ext cx="73152" cy="41148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SEO TECHNICAL AUDIT · INTERNAL V4 USE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  <a:latin typeface="Calibri"/>
              </a:defRPr>
            </a:pPr>
            <a:r>
              <a:t>ATLAS COPCO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E31919"/>
                </a:solidFill>
                <a:latin typeface="Calibri"/>
              </a:defRPr>
            </a:pPr>
            <a:r>
              <a:t>SEO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  <a:latin typeface="Calibri"/>
              </a:defRPr>
            </a:pPr>
            <a:r>
              <a:t>Complete SEO audit for Atlas Copco's B2B industrial site in the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Crawlability · Content · Structured Data · International SEO · Buyer Journey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669280"/>
            <a:ext cx="256032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E31919"/>
                </a:solidFill>
                <a:latin typeface="Calibri"/>
              </a:defRPr>
            </a:pPr>
            <a:r>
              <a:t>5,614</a:t>
            </a:r>
          </a:p>
          <a:p>
            <a:pPr algn="ctr">
              <a:defRPr sz="1000">
                <a:solidFill>
                  <a:srgbClr val="C8C8C8"/>
                </a:solidFill>
                <a:latin typeface="Calibri"/>
              </a:defRPr>
            </a:pPr>
            <a:r>
              <a:t>URLs in US Sitemap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5669280"/>
            <a:ext cx="256032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E31919"/>
                </a:solidFill>
                <a:latin typeface="Calibri"/>
              </a:defRPr>
            </a:pPr>
            <a:r>
              <a:t>188</a:t>
            </a:r>
          </a:p>
          <a:p>
            <a:pPr algn="ctr">
              <a:defRPr sz="1000">
                <a:solidFill>
                  <a:srgbClr val="C8C8C8"/>
                </a:solidFill>
                <a:latin typeface="Calibri"/>
              </a:defRPr>
            </a:pPr>
            <a:r>
              <a:t>Locale Sitemaps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669280"/>
            <a:ext cx="256032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E31919"/>
                </a:solidFill>
                <a:latin typeface="Calibri"/>
              </a:defRPr>
            </a:pPr>
            <a:r>
              <a:t>157</a:t>
            </a:r>
          </a:p>
          <a:p>
            <a:pPr algn="ctr">
              <a:defRPr sz="1000">
                <a:solidFill>
                  <a:srgbClr val="C8C8C8"/>
                </a:solidFill>
                <a:latin typeface="Calibri"/>
              </a:defRPr>
            </a:pPr>
            <a:r>
              <a:t>Hreflang Tags/Page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5669280"/>
            <a:ext cx="256032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400" b="1">
                <a:solidFill>
                  <a:srgbClr val="E31919"/>
                </a:solidFill>
                <a:latin typeface="Calibri"/>
              </a:defRPr>
            </a:pPr>
            <a:r>
              <a:t>12</a:t>
            </a:r>
          </a:p>
          <a:p>
            <a:pPr algn="ctr">
              <a:defRPr sz="1000">
                <a:solidFill>
                  <a:srgbClr val="C8C8C8"/>
                </a:solidFill>
                <a:latin typeface="Calibri"/>
              </a:defRPr>
            </a:pPr>
            <a:r>
              <a:t>Issues · 5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256032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QUICK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is SEO?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96012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🔍  ENGINEER searches Google "air compressor USA"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  <a:latin typeface="Calibri"/>
              </a:defRPr>
            </a:pPr>
            <a:r>
              <a:t>  ╔═══════════════════════════════════════╗</a:t>
            </a:r>
          </a:p>
          <a:p>
            <a:pPr>
              <a:spcAft>
                <a:spcPts val="200"/>
              </a:spcAft>
              <a:defRPr sz="1400">
                <a:solidFill>
                  <a:srgbClr val="C8C8C8"/>
                </a:solidFill>
                <a:latin typeface="Calibri"/>
              </a:defRPr>
            </a:pPr>
            <a:r>
              <a:t>  ║  ORGANIC (SEO) → Free · No CPC          ║     PAID (ADS) → Pay per click  ║</a:t>
            </a:r>
          </a:p>
          <a:p>
            <a:pPr>
              <a:spcAft>
                <a:spcPts val="1600"/>
              </a:spcAft>
              <a:defRPr sz="1100">
                <a:solidFill>
                  <a:srgbClr val="555555"/>
                </a:solidFill>
                <a:latin typeface="Calibri"/>
              </a:defRPr>
            </a:pPr>
            <a:r>
              <a:t>  ╚═══════════════════════════════════════╝</a:t>
            </a:r>
          </a:p>
          <a:p>
            <a:pPr>
              <a:defRPr sz="2000" b="1">
                <a:solidFill>
                  <a:srgbClr val="E31919"/>
                </a:solidFill>
                <a:latin typeface="Calibri"/>
              </a:defRPr>
            </a:pPr>
            <a:r>
              <a:t>🎯  ATLAS COPCO GOAL: #1 First result on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Calibri"/>
              </a:defRPr>
            </a:pPr>
            <a:r>
              <a:t>SEO = being the first result when someone searches for what we sell. No cost per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914400"/>
            <a:ext cx="1219169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0" b="1">
                <a:solidFill>
                  <a:srgbClr val="121212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822960"/>
            <a:ext cx="32004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Overall Health: SOLID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C8C8C8"/>
                </a:solidFill>
                <a:latin typeface="Calibri"/>
              </a:defRPr>
            </a:pPr>
            <a:r>
              <a:t>Excellent technical foundations: SSL/TLS 1.3, Cloudflare CDN, 188 locale sitemaps, full hreflang, correct canonicals. Critical issues are in the content surface layer (empty H1, generic titles, poor meta descriptions) and subdomain fragmentation.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242316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CRAWLABILITY</a:t>
            </a:r>
          </a:p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657600"/>
            <a:ext cx="242316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INDEXATION</a:t>
            </a:r>
          </a:p>
          <a:p>
            <a:pPr algn="ctr">
              <a:defRPr sz="2200" b="1">
                <a:solidFill>
                  <a:srgbClr val="00C853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657600"/>
            <a:ext cx="242316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ON-PAGE</a:t>
            </a:r>
          </a:p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Needs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3657600"/>
            <a:ext cx="242316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SCHEMA</a:t>
            </a:r>
          </a:p>
          <a:p>
            <a:pPr algn="ctr">
              <a:defRPr sz="2200" b="1">
                <a:solidFill>
                  <a:srgbClr val="FFA500"/>
                </a:solidFill>
                <a:latin typeface="Calibri"/>
              </a:defRPr>
            </a:pPr>
            <a:r>
              <a:t>Needs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E31919"/>
                </a:solidFill>
                <a:latin typeface="Calibri"/>
              </a:defRPr>
            </a:pPr>
            <a:r>
              <a:t>💡  Key Insight for Media Buyers</a:t>
            </a:r>
          </a:p>
          <a:p>
            <a:pPr>
              <a:defRPr sz="1300">
                <a:solidFill>
                  <a:srgbClr val="C8C8C8"/>
                </a:solidFill>
                <a:latin typeface="Calibri"/>
              </a:defRPr>
            </a:pPr>
            <a:r>
              <a:t>SEO and Paid Media are complementary. SEO reduces long-term CPC — an optimized site improves Ad Quality Score. SEO is an investment, not an expense.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846320"/>
            <a:ext cx="73152" cy="109728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201168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12 issues found.  5 critical.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5080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25146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697480"/>
            <a:ext cx="1280160" cy="256032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P1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Empty H1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Homepage has no main heading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31919"/>
                </a:solidFill>
                <a:latin typeface="Calibri"/>
              </a:defRPr>
            </a:pPr>
            <a:r>
              <a:t>⏱ 1 hour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5080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60320"/>
            <a:ext cx="25146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4760" y="2697480"/>
            <a:ext cx="1280160" cy="256032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P1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29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Only basic Organization markup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931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31919"/>
                </a:solidFill>
                <a:latin typeface="Calibri"/>
              </a:defRPr>
            </a:pPr>
            <a:r>
              <a:t>⏱ 1-2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5080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25146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2697480"/>
            <a:ext cx="1280160" cy="256032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P1 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Subdomains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29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shopct, digitalcatalog, originair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31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31919"/>
                </a:solidFill>
                <a:latin typeface="Calibri"/>
              </a:defRPr>
            </a:pPr>
            <a:r>
              <a:t>⏱ 3-6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5080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560320"/>
            <a:ext cx="251460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2697480"/>
            <a:ext cx="1280160" cy="256032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P1 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Generic 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4290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"Products" + "use customer center"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931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31919"/>
                </a:solidFill>
                <a:latin typeface="Calibri"/>
              </a:defRPr>
            </a:pPr>
            <a:r>
              <a:t>⏱ 10-30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ALL 5 CRITICAL ISSUES — ZERO TOOL COST</a:t>
            </a:r>
          </a:p>
          <a:p>
            <a:pPr>
              <a:defRPr sz="1300">
                <a:solidFill>
                  <a:srgbClr val="F0F0F0"/>
                </a:solidFill>
                <a:latin typeface="Calibri"/>
              </a:defRPr>
            </a:pPr>
            <a:r>
              <a:t>These fixes need team time — not budget. ~60% of problems solved with almost no financial investment.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292608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TECHNICAL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Google sees when it visits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Robots.txt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Accessible · HTTP 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Sitemaps referenced. Aggressive *?* blocking.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37744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0" y="237744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5146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Sitemap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788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188 locale sitemaps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US: 5,614 URLs. Includes LLMs sitemap.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5146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SSL / 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TLS 1.3 · HSTS 2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Cloudflare. Google Trust Services cert.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37744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37744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5146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www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7889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301 redirect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0632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atlascopco.com → www.atlascopco.com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65760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65760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7947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Cache / CDN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0690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Cloudflare · 2h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43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Pages cached on CDN. Low TTFB.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365760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65760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37947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0690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Responsive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343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Viewport OK. Adaptive design.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65760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65760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7947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PageSpeed (est.)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0690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50-65 mobile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4343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AEM + Algolia + OneTrust = heavy JS.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657600"/>
            <a:ext cx="2514600" cy="1143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3657600"/>
            <a:ext cx="251460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7947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LLMs Sitemap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40690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31919"/>
                </a:solidFill>
                <a:latin typeface="Calibri"/>
              </a:defRPr>
            </a:pPr>
            <a:r>
              <a:t>38 files per locale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343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  <a:latin typeface="Calibri"/>
              </a:defRPr>
            </a:pPr>
            <a:r>
              <a:t>Ready for AI Overviews, ChatGPT.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32004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PERFORMANCE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Predictive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41148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200" b="1">
                <a:solidFill>
                  <a:srgbClr val="FFA500"/>
                </a:solidFill>
                <a:latin typeface="Calibri"/>
              </a:defRPr>
            </a:pPr>
            <a:r>
              <a:t>50-65</a:t>
            </a:r>
          </a:p>
          <a:p>
            <a:pPr algn="ctr">
              <a:defRPr sz="1100">
                <a:solidFill>
                  <a:srgbClr val="C8C8C8"/>
                </a:solidFill>
                <a:latin typeface="Calibri"/>
              </a:defRPr>
            </a:pPr>
            <a:r>
              <a:t>ESTIMATED PAGESPEED (MOBILE)</a:t>
            </a:r>
          </a:p>
          <a:p>
            <a:pPr>
              <a:defRPr sz="800"/>
            </a:pPr>
          </a:p>
          <a:p>
            <a:pPr algn="ctr">
              <a:defRPr sz="1100">
                <a:solidFill>
                  <a:srgbClr val="888888"/>
                </a:solidFill>
                <a:latin typeface="Calibri"/>
              </a:defRPr>
            </a:pPr>
            <a:r>
              <a:t>LCP above 2.5s penalizes all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377440"/>
            <a:ext cx="59436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E31919"/>
                </a:solidFill>
                <a:latin typeface="Calibri"/>
              </a:defRPr>
            </a:pPr>
            <a:r>
              <a:t>Why it matters</a:t>
            </a:r>
          </a:p>
          <a:p>
            <a:pPr>
              <a:spcAft>
                <a:spcPts val="12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Without PageSpeed API access, we estimate 50-65 mobile based on the tech stack (AEM + Algolia + OneTrust + GTM + Adobe Analytics). Core Web Vitals have been a Google ranking factor since 2021.</a:t>
            </a:r>
          </a:p>
          <a:p>
            <a:pPr>
              <a:spcAft>
                <a:spcPts val="600"/>
              </a:spcAft>
              <a:defRPr sz="1600" b="1">
                <a:solidFill>
                  <a:srgbClr val="E31919"/>
                </a:solidFill>
                <a:latin typeface="Calibri"/>
              </a:defRPr>
            </a:pPr>
            <a:r>
              <a:t>→ Recommendation</a:t>
            </a:r>
          </a:p>
          <a:p>
            <a:pPr>
              <a:defRPr sz="1200">
                <a:solidFill>
                  <a:srgbClr val="F0F0F0"/>
                </a:solidFill>
                <a:latin typeface="Calibri"/>
              </a:defRPr>
            </a:pPr>
            <a:r>
              <a:t>Audit with WebPageTest (free) and prioritize non-critical JS optimization.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377440"/>
            <a:ext cx="73152" cy="2743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347472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THE SERP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With vs Without Schema Markup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31919"/>
                </a:solidFill>
                <a:latin typeface="Calibri"/>
              </a:defRPr>
            </a:pPr>
            <a:r>
              <a:t>Rich snippets increase CTR by 20-30%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48463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←  CURRENT: No rich snippet</a:t>
            </a:r>
          </a:p>
          <a:p>
            <a:pPr>
              <a:spcAft>
                <a:spcPts val="600"/>
              </a:spcAft>
              <a:defRPr sz="1400">
                <a:solidFill>
                  <a:srgbClr val="3366CC"/>
                </a:solidFill>
                <a:latin typeface="Calibri"/>
              </a:defRPr>
            </a:pPr>
            <a:r>
              <a:t>Products - Atlas Copco USA</a:t>
            </a:r>
          </a:p>
          <a:p>
            <a:pPr>
              <a:spcAft>
                <a:spcPts val="1000"/>
              </a:spcAft>
              <a:defRPr sz="1000">
                <a:solidFill>
                  <a:srgbClr val="00C853"/>
                </a:solidFill>
                <a:latin typeface="Calibri"/>
              </a:defRPr>
            </a:pPr>
            <a:r>
              <a:t>www.atlascopco.com/en-us/compressors/products</a:t>
            </a:r>
          </a:p>
          <a:p>
            <a:pPr>
              <a:spcAft>
                <a:spcPts val="10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Atlas Copco compressor products... energy efficient compressed air and gas equipment.</a:t>
            </a:r>
          </a:p>
          <a:p>
            <a:pPr>
              <a:defRPr sz="1100">
                <a:solidFill>
                  <a:srgbClr val="888888"/>
                </a:solidFill>
                <a:latin typeface="Calibri"/>
              </a:defRPr>
            </a:pPr>
            <a:r>
              <a:t>📝  TEXT ONLY — no image, no stars, no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4846320" cy="320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560320"/>
            <a:ext cx="530352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→  WITH Product Schema</a:t>
            </a:r>
          </a:p>
          <a:p>
            <a:pPr>
              <a:spcAft>
                <a:spcPts val="600"/>
              </a:spcAft>
              <a:defRPr sz="1400">
                <a:solidFill>
                  <a:srgbClr val="3366CC"/>
                </a:solidFill>
                <a:latin typeface="Calibri"/>
              </a:defRPr>
            </a:pPr>
            <a:r>
              <a:t>ZH 630+ Oil-Free Compressor</a:t>
            </a:r>
          </a:p>
          <a:p>
            <a:pPr>
              <a:spcAft>
                <a:spcPts val="1000"/>
              </a:spcAft>
              <a:defRPr sz="1000">
                <a:solidFill>
                  <a:srgbClr val="00C853"/>
                </a:solidFill>
                <a:latin typeface="Calibri"/>
              </a:defRPr>
            </a:pPr>
            <a:r>
              <a:t>www.atlascopco.com/.../zh-630-plus</a:t>
            </a:r>
          </a:p>
          <a:p>
            <a:pPr>
              <a:spcAft>
                <a:spcPts val="10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High-efficiency oil-free centrifugal compressor · 630 kW · Class 0</a:t>
            </a:r>
          </a:p>
          <a:p>
            <a:pPr>
              <a:defRPr sz="1200" b="1">
                <a:solidFill>
                  <a:srgbClr val="FFA500"/>
                </a:solidFill>
                <a:latin typeface="Calibri"/>
              </a:defRPr>
            </a:pPr>
            <a:r>
              <a:t>★★★★☆  RICH SNIPPET — image + rating +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560320"/>
            <a:ext cx="5303520" cy="32004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30% more clicks with the rich snippet. Competitors already use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32004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ARCHITECTURE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Subdomain Fragmentation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C8"/>
                </a:solidFill>
                <a:latin typeface="Calibri"/>
              </a:defRPr>
            </a:pPr>
            <a:r>
              <a:t>Each subdomain = a separate website in Google's eyes. Authority from the main site does NOT pass to subdomains.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484632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E31919"/>
                </a:solidFill>
                <a:latin typeface="Calibri"/>
              </a:defRPr>
            </a:pPr>
            <a:r>
              <a:t>✗  CURRENT: Fragmented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www.atlascopco.com  ← Main site · Authority = 100%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shopct.atlascopco.com  ← Separate site (Google)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digitalcatalog.atlascopco.com  ← Separate site (Google)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originair.atlascopco.com  ← Separate site (Google)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73152" cy="2743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2743200"/>
            <a:ext cx="530352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  RECOMMENDED: Consolidated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www.atlascopco.com/shop/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www.atlascopco.com/catalog/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www.atlascopco.com/digitalcatalog/</a:t>
            </a:r>
          </a:p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Calibri"/>
              </a:defRPr>
            </a:pPr>
            <a:r>
              <a:t>www.atlascopco.com/originair/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43200"/>
            <a:ext cx="73152" cy="2743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27432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BUYER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How each issue loses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514600" cy="50292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 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"air compressor USA"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H1 empty, title generic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31919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931920"/>
            <a:ext cx="224028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clicks competitor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2286000"/>
            <a:ext cx="2514600" cy="502920"/>
          </a:xfrm>
          <a:prstGeom prst="rect">
            <a:avLst/>
          </a:prstGeom>
          <a:solidFill>
            <a:srgbClr val="E35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 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No rich snippet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00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Competitor shows price+picture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5661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35019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931920"/>
            <a:ext cx="224028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we show text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286000"/>
            <a:ext cx="2514600" cy="502920"/>
          </a:xfrm>
          <a:prstGeom prst="rect">
            <a:avLst/>
          </a:prstGeom>
          <a:solidFill>
            <a:srgbClr val="E38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 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Subdomain maze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00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3 different subdomains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661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38019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931920"/>
            <a:ext cx="224028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confusing → leaves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286000"/>
            <a:ext cx="2514600" cy="5029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 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926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  <a:latin typeface="Calibri"/>
              </a:defRPr>
            </a:pPr>
            <a:r>
              <a:t>Weak trust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2004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"use customer center"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6616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03030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3931920"/>
            <a:ext cx="2240280" cy="594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→ loses trust → calls competitor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CUSTOMER LOST AT EVERY STAGE  —  Better SEO improves Quality Score. Schema markup alone reduces CPC by 12-18%.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22860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 to fix first.  What can wait.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514600" cy="36576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P1  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empty H1 → 1 hour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Add schema → 1-2 weeks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meta "use customer center"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"Products" title → 30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286000"/>
            <a:ext cx="251460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P2 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Consolidate subdomains → 3-6 months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Add x-default hreflang → 2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286000"/>
            <a:ext cx="2514600" cy="365760"/>
          </a:xfrm>
          <a:prstGeom prst="rect">
            <a:avLst/>
          </a:prstGeom>
          <a:solidFill>
            <a:srgbClr val="FFD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P3  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Prune US sitemap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robots.txt *?* rule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Reduce URL depth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2514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286000"/>
            <a:ext cx="251460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P4 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3464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Update old lastmods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Improve page speed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182880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8-week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2514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514600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31919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Quick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High impact · Low 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200400"/>
            <a:ext cx="2148840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empty H1 on homepage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Update Customer Center meta desc.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Optimize product page title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Add x-default hreflang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286000"/>
            <a:ext cx="2514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2286000"/>
            <a:ext cx="25146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4688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97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Schema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9718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Medium effort · High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200400"/>
            <a:ext cx="2148840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29184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BreadcrumbList schema site-wide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Product schema on top 50 pages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Article schema on blog/stories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Validate with Rich Results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2514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286000"/>
            <a:ext cx="2514600" cy="54864"/>
          </a:xfrm>
          <a:prstGeom prst="rect">
            <a:avLst/>
          </a:prstGeom>
          <a:solidFill>
            <a:srgbClr val="FFD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D55"/>
                </a:solidFill>
                <a:latin typeface="Calibri"/>
              </a:defRPr>
            </a:pPr>
            <a:r>
              <a:t>WEEKS 5-6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97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Clean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718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200400"/>
            <a:ext cx="2148840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29184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Audit PageSpeed + Lighthouse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Optimize non-critical JS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Prune US sitemap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Fix robots.txt rules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286000"/>
            <a:ext cx="2514600" cy="365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2286000"/>
            <a:ext cx="251460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46888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WEEKS 7-8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974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97180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Cross-team coordination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3200400"/>
            <a:ext cx="2148840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29184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Start subdomain consolidation plan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Create SEO guide for editors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Monthly SEO audit checklist</a:t>
            </a:r>
          </a:p>
          <a:p>
            <a:pPr>
              <a:spcAft>
                <a:spcPts val="300"/>
              </a:spcAft>
              <a:defRPr sz="1100">
                <a:solidFill>
                  <a:srgbClr val="C8C8C8"/>
                </a:solidFill>
                <a:latin typeface="Calibri"/>
              </a:defRPr>
            </a:pPr>
            <a:r>
              <a:t>Technical content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137160"/>
            <a:ext cx="365760" cy="394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822960"/>
            <a:ext cx="73152" cy="4572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822960"/>
            <a:ext cx="1097280" cy="292608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Questions everyone asks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512064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54864" cy="18288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1919"/>
                </a:solidFill>
                <a:latin typeface="Calibri"/>
              </a:defRPr>
            </a:pPr>
            <a:r>
              <a:t>Isn't SEO dead?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No. Google processes more signals than ever (Core Web Vitals, E-E-A-T, AI Overviews). But the fundamentals remain: relevant content + healthy site + authority. Atlas Copco's 150-year reputation gives us a huge advantage — the content just needs to be found.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512064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54864" cy="18288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1919"/>
                </a:solidFill>
                <a:latin typeface="Calibri"/>
              </a:defRPr>
            </a:pPr>
            <a:r>
              <a:t>How long until we see results?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Technical fixes (H1, meta descriptions): 2-4 weeks. New content and schema: 3-6 months. Subdomain consolidation: 6-12 months. SEO is a long-term asset — cost per organic lead goes to zero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89120"/>
            <a:ext cx="512064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389120"/>
            <a:ext cx="54864" cy="18288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1919"/>
                </a:solidFill>
                <a:latin typeface="Calibri"/>
              </a:defRPr>
            </a:pPr>
            <a:r>
              <a:t>SEO vs Google Ads — why both?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920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They are complementary. Together they take 2/3 of the mobile screen. Good SEO improves Quality Score — reducing CPC by 12-18% based on industry studies.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389120"/>
            <a:ext cx="512064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54864" cy="1828800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31919"/>
                </a:solidFill>
                <a:latin typeface="Calibri"/>
              </a:defRPr>
            </a:pPr>
            <a:r>
              <a:t>Limited budget — what can we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8920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  <a:latin typeface="Calibri"/>
              </a:defRPr>
            </a:pPr>
            <a:r>
              <a:t>The 4 P1 fixes cost almost nothing: H1 (1 dev hour), meta description (10 min), title (30 min), schema via GTM (1 day). This solves ~60% of the problems with minimal investment.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0" b="1">
                <a:solidFill>
                  <a:srgbClr val="151515"/>
                </a:solidFill>
                <a:latin typeface="Calibri"/>
              </a:defRPr>
            </a:pPr>
            <a:r>
              <a:t>ATLAS COPCO</a:t>
            </a:r>
          </a:p>
        </p:txBody>
      </p:sp>
      <p:pic>
        <p:nvPicPr>
          <p:cNvPr id="5" name="Picture 4" descr="v4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228600"/>
            <a:ext cx="502920" cy="542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ATLAS COPCO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31919"/>
                </a:solidFill>
                <a:latin typeface="Calibri"/>
              </a:defRPr>
            </a:pPr>
            <a:r>
              <a:t>SEO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  <a:latin typeface="Calibri"/>
              </a:defRPr>
            </a:pPr>
            <a:r>
              <a:t>Digital Strategy · Internal V4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5029200"/>
            <a:ext cx="7589520" cy="1097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88888"/>
                </a:solidFill>
                <a:latin typeface="Calibri"/>
              </a:defRPr>
            </a:pPr>
            <a:r>
              <a:t>Report based on external technical analysis of www.atlascopco.com/en-us in May 2026.</a:t>
            </a:r>
            <a:br/>
            <a:r>
              <a:t>No Search Console access.  Tools: curl, web_fetch, Rich Results Test, manual HTML/HTTP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5029200"/>
            <a:ext cx="7589520" cy="36576"/>
          </a:xfrm>
          <a:prstGeom prst="rect">
            <a:avLst/>
          </a:prstGeom>
          <a:solidFill>
            <a:srgbClr val="E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