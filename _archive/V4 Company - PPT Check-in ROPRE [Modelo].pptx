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</p:sldIdLst>
  <p:sldSz cy="5143500" cx="9144000"/>
  <p:notesSz cx="6858000" cy="9144000"/>
  <p:embeddedFontLst>
    <p:embeddedFont>
      <p:font typeface="Montserrat SemiBold"/>
      <p:regular r:id="rId27"/>
      <p:bold r:id="rId28"/>
      <p:italic r:id="rId29"/>
      <p:boldItalic r:id="rId30"/>
    </p:embeddedFont>
    <p:embeddedFont>
      <p:font typeface="Proxima Nova"/>
      <p:regular r:id="rId31"/>
      <p:bold r:id="rId32"/>
      <p:italic r:id="rId33"/>
      <p:boldItalic r:id="rId34"/>
    </p:embeddedFont>
    <p:embeddedFont>
      <p:font typeface="Inter"/>
      <p:regular r:id="rId35"/>
      <p:bold r:id="rId36"/>
      <p:italic r:id="rId37"/>
      <p:boldItalic r:id="rId38"/>
    </p:embeddedFont>
    <p:embeddedFont>
      <p:font typeface="Poppins"/>
      <p:regular r:id="rId39"/>
      <p:bold r:id="rId40"/>
      <p:italic r:id="rId41"/>
      <p:boldItalic r:id="rId42"/>
    </p:embeddedFont>
    <p:embeddedFont>
      <p:font typeface="Montserrat"/>
      <p:regular r:id="rId43"/>
      <p:bold r:id="rId44"/>
      <p:italic r:id="rId45"/>
      <p:boldItalic r:id="rId46"/>
    </p:embeddedFont>
    <p:embeddedFont>
      <p:font typeface="Montserrat Light"/>
      <p:regular r:id="rId47"/>
      <p:bold r:id="rId48"/>
      <p:italic r:id="rId49"/>
      <p:boldItalic r:id="rId50"/>
    </p:embeddedFont>
    <p:embeddedFont>
      <p:font typeface="Inter Medium"/>
      <p:regular r:id="rId51"/>
      <p:bold r:id="rId52"/>
      <p:italic r:id="rId53"/>
      <p:boldItalic r:id="rId5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oppins-bold.fntdata"/><Relationship Id="rId42" Type="http://schemas.openxmlformats.org/officeDocument/2006/relationships/font" Target="fonts/Poppins-boldItalic.fntdata"/><Relationship Id="rId41" Type="http://schemas.openxmlformats.org/officeDocument/2006/relationships/font" Target="fonts/Poppins-italic.fntdata"/><Relationship Id="rId44" Type="http://schemas.openxmlformats.org/officeDocument/2006/relationships/font" Target="fonts/Montserrat-bold.fntdata"/><Relationship Id="rId43" Type="http://schemas.openxmlformats.org/officeDocument/2006/relationships/font" Target="fonts/Montserrat-regular.fntdata"/><Relationship Id="rId46" Type="http://schemas.openxmlformats.org/officeDocument/2006/relationships/font" Target="fonts/Montserrat-boldItalic.fntdata"/><Relationship Id="rId45" Type="http://schemas.openxmlformats.org/officeDocument/2006/relationships/font" Target="fonts/Montserrat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font" Target="fonts/MontserratLight-bold.fntdata"/><Relationship Id="rId47" Type="http://schemas.openxmlformats.org/officeDocument/2006/relationships/font" Target="fonts/MontserratLight-regular.fntdata"/><Relationship Id="rId49" Type="http://schemas.openxmlformats.org/officeDocument/2006/relationships/font" Target="fonts/MontserratLight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ProximaNova-regular.fntdata"/><Relationship Id="rId30" Type="http://schemas.openxmlformats.org/officeDocument/2006/relationships/font" Target="fonts/MontserratSemiBold-boldItalic.fntdata"/><Relationship Id="rId33" Type="http://schemas.openxmlformats.org/officeDocument/2006/relationships/font" Target="fonts/ProximaNova-italic.fntdata"/><Relationship Id="rId32" Type="http://schemas.openxmlformats.org/officeDocument/2006/relationships/font" Target="fonts/ProximaNova-bold.fntdata"/><Relationship Id="rId35" Type="http://schemas.openxmlformats.org/officeDocument/2006/relationships/font" Target="fonts/Inter-regular.fntdata"/><Relationship Id="rId34" Type="http://schemas.openxmlformats.org/officeDocument/2006/relationships/font" Target="fonts/ProximaNova-boldItalic.fntdata"/><Relationship Id="rId37" Type="http://schemas.openxmlformats.org/officeDocument/2006/relationships/font" Target="fonts/Inter-italic.fntdata"/><Relationship Id="rId36" Type="http://schemas.openxmlformats.org/officeDocument/2006/relationships/font" Target="fonts/Inter-bold.fntdata"/><Relationship Id="rId39" Type="http://schemas.openxmlformats.org/officeDocument/2006/relationships/font" Target="fonts/Poppins-regular.fntdata"/><Relationship Id="rId38" Type="http://schemas.openxmlformats.org/officeDocument/2006/relationships/font" Target="fonts/Inter-boldItalic.fntdata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font" Target="fonts/MontserratSemiBold-bold.fntdata"/><Relationship Id="rId27" Type="http://schemas.openxmlformats.org/officeDocument/2006/relationships/font" Target="fonts/MontserratSemiBold-regular.fntdata"/><Relationship Id="rId29" Type="http://schemas.openxmlformats.org/officeDocument/2006/relationships/font" Target="fonts/MontserratSemiBold-italic.fntdata"/><Relationship Id="rId51" Type="http://schemas.openxmlformats.org/officeDocument/2006/relationships/font" Target="fonts/InterMedium-regular.fntdata"/><Relationship Id="rId50" Type="http://schemas.openxmlformats.org/officeDocument/2006/relationships/font" Target="fonts/MontserratLight-boldItalic.fntdata"/><Relationship Id="rId53" Type="http://schemas.openxmlformats.org/officeDocument/2006/relationships/font" Target="fonts/InterMedium-italic.fntdata"/><Relationship Id="rId52" Type="http://schemas.openxmlformats.org/officeDocument/2006/relationships/font" Target="fonts/InterMedium-bold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54" Type="http://schemas.openxmlformats.org/officeDocument/2006/relationships/font" Target="fonts/InterMedium-bold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2d279072d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2d279072d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d2bf30d37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d2bf30d37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f19b0b8bb9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f19b0b8bb9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9e9da23e44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9e9da23e44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9e9da23e44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9e9da23e44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2f19b0b8bb9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2f19b0b8bb9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f19b0b8bb9_0_1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2f19b0b8bb9_0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2f19b0b8bb9_0_2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2f19b0b8bb9_0_2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2f19b0b8bb9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2f19b0b8bb9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2d2bf30d377_0_2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2d2bf30d377_0_2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2f19b0b8bb9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2f19b0b8bb9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2f19b0b8bb9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2f19b0b8bb9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2f19b0b8bb9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2f19b0b8bb9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2d2bf30d377_0_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2d2bf30d377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2f19b0b8bb9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2f19b0b8bb9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2f19b0b8bb9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2f19b0b8bb9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2f19b0b8bb9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2f19b0b8bb9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2f19b0b8bb9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2f19b0b8bb9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2f19b0b8bb9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2f19b0b8bb9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2f19b0b8bb9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" name="Google Shape;435;g2f19b0b8bb9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2f1a1921c3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0" name="Google Shape;440;g2f1a1921c3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1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2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image" Target="../media/image20.png"/><Relationship Id="rId6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13.png"/><Relationship Id="rId6" Type="http://schemas.openxmlformats.org/officeDocument/2006/relationships/image" Target="../media/image16.png"/><Relationship Id="rId7" Type="http://schemas.openxmlformats.org/officeDocument/2006/relationships/image" Target="../media/image2.png"/><Relationship Id="rId8" Type="http://schemas.openxmlformats.org/officeDocument/2006/relationships/image" Target="../media/image2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2.png"/><Relationship Id="rId5" Type="http://schemas.openxmlformats.org/officeDocument/2006/relationships/image" Target="../media/image105.png"/><Relationship Id="rId6" Type="http://schemas.openxmlformats.org/officeDocument/2006/relationships/image" Target="../media/image79.png"/><Relationship Id="rId7" Type="http://schemas.openxmlformats.org/officeDocument/2006/relationships/image" Target="../media/image3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png"/><Relationship Id="rId4" Type="http://schemas.openxmlformats.org/officeDocument/2006/relationships/image" Target="../media/image19.png"/><Relationship Id="rId5" Type="http://schemas.openxmlformats.org/officeDocument/2006/relationships/image" Target="../media/image2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6.png"/><Relationship Id="rId4" Type="http://schemas.openxmlformats.org/officeDocument/2006/relationships/image" Target="../media/image23.png"/><Relationship Id="rId5" Type="http://schemas.openxmlformats.org/officeDocument/2006/relationships/image" Target="../media/image1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1.png"/><Relationship Id="rId4" Type="http://schemas.openxmlformats.org/officeDocument/2006/relationships/image" Target="../media/image23.png"/><Relationship Id="rId5" Type="http://schemas.openxmlformats.org/officeDocument/2006/relationships/image" Target="../media/image1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0.png"/><Relationship Id="rId4" Type="http://schemas.openxmlformats.org/officeDocument/2006/relationships/image" Target="../media/image23.png"/><Relationship Id="rId5" Type="http://schemas.openxmlformats.org/officeDocument/2006/relationships/image" Target="../media/image1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9.png"/></Relationships>
</file>

<file path=ppt/slides/_rels/slide22.xml.rels><?xml version="1.0" encoding="UTF-8" standalone="yes"?><Relationships xmlns="http://schemas.openxmlformats.org/package/2006/relationships"><Relationship Id="rId40" Type="http://schemas.openxmlformats.org/officeDocument/2006/relationships/image" Target="../media/image71.png"/><Relationship Id="rId42" Type="http://schemas.openxmlformats.org/officeDocument/2006/relationships/image" Target="../media/image67.png"/><Relationship Id="rId41" Type="http://schemas.openxmlformats.org/officeDocument/2006/relationships/image" Target="../media/image72.png"/><Relationship Id="rId44" Type="http://schemas.openxmlformats.org/officeDocument/2006/relationships/image" Target="../media/image73.png"/><Relationship Id="rId43" Type="http://schemas.openxmlformats.org/officeDocument/2006/relationships/image" Target="../media/image76.png"/><Relationship Id="rId46" Type="http://schemas.openxmlformats.org/officeDocument/2006/relationships/image" Target="../media/image80.png"/><Relationship Id="rId45" Type="http://schemas.openxmlformats.org/officeDocument/2006/relationships/image" Target="../media/image7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8.png"/><Relationship Id="rId4" Type="http://schemas.openxmlformats.org/officeDocument/2006/relationships/image" Target="../media/image42.png"/><Relationship Id="rId9" Type="http://schemas.openxmlformats.org/officeDocument/2006/relationships/image" Target="../media/image35.png"/><Relationship Id="rId48" Type="http://schemas.openxmlformats.org/officeDocument/2006/relationships/image" Target="../media/image75.png"/><Relationship Id="rId47" Type="http://schemas.openxmlformats.org/officeDocument/2006/relationships/image" Target="../media/image81.png"/><Relationship Id="rId49" Type="http://schemas.openxmlformats.org/officeDocument/2006/relationships/image" Target="../media/image70.png"/><Relationship Id="rId5" Type="http://schemas.openxmlformats.org/officeDocument/2006/relationships/image" Target="../media/image33.png"/><Relationship Id="rId6" Type="http://schemas.openxmlformats.org/officeDocument/2006/relationships/image" Target="../media/image38.png"/><Relationship Id="rId7" Type="http://schemas.openxmlformats.org/officeDocument/2006/relationships/image" Target="../media/image36.png"/><Relationship Id="rId8" Type="http://schemas.openxmlformats.org/officeDocument/2006/relationships/image" Target="../media/image37.png"/><Relationship Id="rId73" Type="http://schemas.openxmlformats.org/officeDocument/2006/relationships/image" Target="../media/image99.png"/><Relationship Id="rId72" Type="http://schemas.openxmlformats.org/officeDocument/2006/relationships/image" Target="../media/image97.png"/><Relationship Id="rId31" Type="http://schemas.openxmlformats.org/officeDocument/2006/relationships/image" Target="../media/image66.png"/><Relationship Id="rId75" Type="http://schemas.openxmlformats.org/officeDocument/2006/relationships/image" Target="../media/image103.png"/><Relationship Id="rId30" Type="http://schemas.openxmlformats.org/officeDocument/2006/relationships/image" Target="../media/image61.png"/><Relationship Id="rId74" Type="http://schemas.openxmlformats.org/officeDocument/2006/relationships/image" Target="../media/image98.png"/><Relationship Id="rId33" Type="http://schemas.openxmlformats.org/officeDocument/2006/relationships/image" Target="../media/image69.png"/><Relationship Id="rId32" Type="http://schemas.openxmlformats.org/officeDocument/2006/relationships/image" Target="../media/image62.png"/><Relationship Id="rId35" Type="http://schemas.openxmlformats.org/officeDocument/2006/relationships/image" Target="../media/image65.png"/><Relationship Id="rId34" Type="http://schemas.openxmlformats.org/officeDocument/2006/relationships/image" Target="../media/image63.png"/><Relationship Id="rId71" Type="http://schemas.openxmlformats.org/officeDocument/2006/relationships/image" Target="../media/image104.png"/><Relationship Id="rId70" Type="http://schemas.openxmlformats.org/officeDocument/2006/relationships/image" Target="../media/image100.png"/><Relationship Id="rId37" Type="http://schemas.openxmlformats.org/officeDocument/2006/relationships/image" Target="../media/image59.png"/><Relationship Id="rId36" Type="http://schemas.openxmlformats.org/officeDocument/2006/relationships/image" Target="../media/image74.png"/><Relationship Id="rId39" Type="http://schemas.openxmlformats.org/officeDocument/2006/relationships/image" Target="../media/image60.png"/><Relationship Id="rId38" Type="http://schemas.openxmlformats.org/officeDocument/2006/relationships/image" Target="../media/image64.png"/><Relationship Id="rId62" Type="http://schemas.openxmlformats.org/officeDocument/2006/relationships/image" Target="../media/image84.png"/><Relationship Id="rId61" Type="http://schemas.openxmlformats.org/officeDocument/2006/relationships/image" Target="../media/image87.png"/><Relationship Id="rId20" Type="http://schemas.openxmlformats.org/officeDocument/2006/relationships/image" Target="../media/image57.png"/><Relationship Id="rId64" Type="http://schemas.openxmlformats.org/officeDocument/2006/relationships/image" Target="../media/image86.png"/><Relationship Id="rId63" Type="http://schemas.openxmlformats.org/officeDocument/2006/relationships/image" Target="../media/image88.png"/><Relationship Id="rId22" Type="http://schemas.openxmlformats.org/officeDocument/2006/relationships/image" Target="../media/image51.png"/><Relationship Id="rId66" Type="http://schemas.openxmlformats.org/officeDocument/2006/relationships/image" Target="../media/image94.png"/><Relationship Id="rId21" Type="http://schemas.openxmlformats.org/officeDocument/2006/relationships/image" Target="../media/image56.png"/><Relationship Id="rId65" Type="http://schemas.openxmlformats.org/officeDocument/2006/relationships/image" Target="../media/image102.png"/><Relationship Id="rId24" Type="http://schemas.openxmlformats.org/officeDocument/2006/relationships/image" Target="../media/image48.png"/><Relationship Id="rId68" Type="http://schemas.openxmlformats.org/officeDocument/2006/relationships/image" Target="../media/image17.png"/><Relationship Id="rId23" Type="http://schemas.openxmlformats.org/officeDocument/2006/relationships/image" Target="../media/image52.png"/><Relationship Id="rId67" Type="http://schemas.openxmlformats.org/officeDocument/2006/relationships/image" Target="../media/image93.png"/><Relationship Id="rId60" Type="http://schemas.openxmlformats.org/officeDocument/2006/relationships/image" Target="../media/image95.png"/><Relationship Id="rId26" Type="http://schemas.openxmlformats.org/officeDocument/2006/relationships/image" Target="../media/image55.png"/><Relationship Id="rId25" Type="http://schemas.openxmlformats.org/officeDocument/2006/relationships/image" Target="../media/image53.png"/><Relationship Id="rId69" Type="http://schemas.openxmlformats.org/officeDocument/2006/relationships/image" Target="../media/image101.png"/><Relationship Id="rId28" Type="http://schemas.openxmlformats.org/officeDocument/2006/relationships/image" Target="../media/image50.png"/><Relationship Id="rId27" Type="http://schemas.openxmlformats.org/officeDocument/2006/relationships/image" Target="../media/image54.png"/><Relationship Id="rId29" Type="http://schemas.openxmlformats.org/officeDocument/2006/relationships/image" Target="../media/image58.png"/><Relationship Id="rId51" Type="http://schemas.openxmlformats.org/officeDocument/2006/relationships/image" Target="../media/image78.png"/><Relationship Id="rId50" Type="http://schemas.openxmlformats.org/officeDocument/2006/relationships/image" Target="../media/image68.png"/><Relationship Id="rId53" Type="http://schemas.openxmlformats.org/officeDocument/2006/relationships/image" Target="../media/image83.png"/><Relationship Id="rId52" Type="http://schemas.openxmlformats.org/officeDocument/2006/relationships/image" Target="../media/image82.png"/><Relationship Id="rId11" Type="http://schemas.openxmlformats.org/officeDocument/2006/relationships/image" Target="../media/image46.png"/><Relationship Id="rId55" Type="http://schemas.openxmlformats.org/officeDocument/2006/relationships/image" Target="../media/image96.png"/><Relationship Id="rId10" Type="http://schemas.openxmlformats.org/officeDocument/2006/relationships/image" Target="../media/image34.png"/><Relationship Id="rId54" Type="http://schemas.openxmlformats.org/officeDocument/2006/relationships/image" Target="../media/image91.png"/><Relationship Id="rId13" Type="http://schemas.openxmlformats.org/officeDocument/2006/relationships/image" Target="../media/image45.png"/><Relationship Id="rId57" Type="http://schemas.openxmlformats.org/officeDocument/2006/relationships/image" Target="../media/image85.png"/><Relationship Id="rId12" Type="http://schemas.openxmlformats.org/officeDocument/2006/relationships/image" Target="../media/image43.png"/><Relationship Id="rId56" Type="http://schemas.openxmlformats.org/officeDocument/2006/relationships/image" Target="../media/image89.png"/><Relationship Id="rId15" Type="http://schemas.openxmlformats.org/officeDocument/2006/relationships/image" Target="../media/image32.png"/><Relationship Id="rId59" Type="http://schemas.openxmlformats.org/officeDocument/2006/relationships/image" Target="../media/image90.png"/><Relationship Id="rId14" Type="http://schemas.openxmlformats.org/officeDocument/2006/relationships/image" Target="../media/image41.png"/><Relationship Id="rId58" Type="http://schemas.openxmlformats.org/officeDocument/2006/relationships/image" Target="../media/image92.png"/><Relationship Id="rId17" Type="http://schemas.openxmlformats.org/officeDocument/2006/relationships/image" Target="../media/image23.png"/><Relationship Id="rId16" Type="http://schemas.openxmlformats.org/officeDocument/2006/relationships/image" Target="../media/image16.png"/><Relationship Id="rId19" Type="http://schemas.openxmlformats.org/officeDocument/2006/relationships/image" Target="../media/image49.png"/><Relationship Id="rId18" Type="http://schemas.openxmlformats.org/officeDocument/2006/relationships/image" Target="../media/image4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833625" y="2057950"/>
            <a:ext cx="4361700" cy="16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900">
                <a:solidFill>
                  <a:srgbClr val="DB1B26"/>
                </a:solidFill>
                <a:latin typeface="Inter"/>
                <a:ea typeface="Inter"/>
                <a:cs typeface="Inter"/>
                <a:sym typeface="Inter"/>
              </a:rPr>
              <a:t>Olá!</a:t>
            </a:r>
            <a:br>
              <a:rPr b="1" lang="pt-BR">
                <a:solidFill>
                  <a:srgbClr val="E8C454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lang="pt-BR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Antes de qualquer coisa…</a:t>
            </a:r>
            <a:br>
              <a:rPr b="1" lang="pt-BR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b="1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Não peça para editar, </a:t>
            </a:r>
            <a:r>
              <a:rPr b="1" lang="pt-BR">
                <a:solidFill>
                  <a:srgbClr val="DB1B26"/>
                </a:solidFill>
                <a:latin typeface="Inter"/>
                <a:ea typeface="Inter"/>
                <a:cs typeface="Inter"/>
                <a:sym typeface="Inter"/>
              </a:rPr>
              <a:t>faça uma cópia desse PPT</a:t>
            </a:r>
            <a:r>
              <a:rPr lang="pt-BR">
                <a:solidFill>
                  <a:srgbClr val="DB1B26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pt-BR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para conseguir editar.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7950" y="1357450"/>
            <a:ext cx="620451" cy="620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5145" y="3203995"/>
            <a:ext cx="354000" cy="3540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4"/>
          <p:cNvSpPr/>
          <p:nvPr/>
        </p:nvSpPr>
        <p:spPr>
          <a:xfrm>
            <a:off x="6020000" y="1333495"/>
            <a:ext cx="1764300" cy="1764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4"/>
          <p:cNvSpPr txBox="1"/>
          <p:nvPr/>
        </p:nvSpPr>
        <p:spPr>
          <a:xfrm>
            <a:off x="6708070" y="3203995"/>
            <a:ext cx="1016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rPr>
              <a:t>XX.XX.XX</a:t>
            </a:r>
            <a:endParaRPr sz="1100">
              <a:solidFill>
                <a:schemeClr val="lt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6201925" y="1907820"/>
            <a:ext cx="1400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ED1B18"/>
                </a:solidFill>
                <a:latin typeface="Inter"/>
                <a:ea typeface="Inter"/>
                <a:cs typeface="Inter"/>
                <a:sym typeface="Inter"/>
              </a:rPr>
              <a:t>LOGO CLIENTE</a:t>
            </a:r>
            <a:endParaRPr b="1">
              <a:solidFill>
                <a:srgbClr val="ED1B1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813250" y="1729572"/>
            <a:ext cx="4339200" cy="18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72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Check-in</a:t>
            </a:r>
            <a:endParaRPr b="1" sz="72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72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Mensal</a:t>
            </a:r>
            <a:endParaRPr b="1" sz="72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901600" y="1399710"/>
            <a:ext cx="3251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R     O</a:t>
            </a:r>
            <a:r>
              <a:rPr lang="pt-BR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     </a:t>
            </a:r>
            <a:r>
              <a:rPr lang="pt-BR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P</a:t>
            </a:r>
            <a:r>
              <a:rPr lang="pt-BR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     </a:t>
            </a:r>
            <a:r>
              <a:rPr lang="pt-BR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R</a:t>
            </a:r>
            <a:r>
              <a:rPr lang="pt-BR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     </a:t>
            </a:r>
            <a:r>
              <a:rPr lang="pt-BR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E</a:t>
            </a:r>
            <a:endParaRPr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8393925" y="4715316"/>
            <a:ext cx="74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7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LOGO DA UNIDADE</a:t>
            </a:r>
            <a:endParaRPr b="1" sz="700">
              <a:solidFill>
                <a:srgbClr val="FFFFF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/>
          <p:nvPr/>
        </p:nvSpPr>
        <p:spPr>
          <a:xfrm>
            <a:off x="5745175" y="479112"/>
            <a:ext cx="2163300" cy="1072800"/>
          </a:xfrm>
          <a:prstGeom prst="roundRect">
            <a:avLst>
              <a:gd fmla="val 4761" name="adj"/>
            </a:avLst>
          </a:prstGeom>
          <a:solidFill>
            <a:srgbClr val="E528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72" name="Google Shape;72;p15"/>
          <p:cNvSpPr txBox="1"/>
          <p:nvPr/>
        </p:nvSpPr>
        <p:spPr>
          <a:xfrm>
            <a:off x="742507" y="2251626"/>
            <a:ext cx="3729300" cy="10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53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Resultados</a:t>
            </a:r>
            <a:endParaRPr b="1" sz="53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3" name="Google Shape;73;p15"/>
          <p:cNvSpPr txBox="1"/>
          <p:nvPr/>
        </p:nvSpPr>
        <p:spPr>
          <a:xfrm>
            <a:off x="5868031" y="513103"/>
            <a:ext cx="1153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Resultados</a:t>
            </a:r>
            <a:endParaRPr b="1" sz="13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4" name="Google Shape;74;p15"/>
          <p:cNvSpPr txBox="1"/>
          <p:nvPr/>
        </p:nvSpPr>
        <p:spPr>
          <a:xfrm>
            <a:off x="5730351" y="738112"/>
            <a:ext cx="2036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roxima Nova"/>
              <a:buChar char="-"/>
            </a:pPr>
            <a:r>
              <a:rPr lang="pt-BR" sz="9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Gerais</a:t>
            </a:r>
            <a:endParaRPr sz="9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roxima Nova"/>
              <a:buChar char="-"/>
            </a:pPr>
            <a:r>
              <a:rPr lang="pt-BR" sz="9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Por canal</a:t>
            </a:r>
            <a:endParaRPr sz="9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roxima Nova"/>
              <a:buChar char="-"/>
            </a:pPr>
            <a:r>
              <a:rPr lang="pt-BR" sz="9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Criativos</a:t>
            </a:r>
            <a:r>
              <a:rPr lang="pt-BR" sz="9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lang="pt-BR" sz="9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vencedores</a:t>
            </a:r>
            <a:endParaRPr sz="9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roxima Nova"/>
              <a:buChar char="-"/>
            </a:pPr>
            <a:r>
              <a:rPr lang="pt-BR" sz="9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Aprendizados</a:t>
            </a:r>
            <a:endParaRPr sz="9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5" name="Google Shape;75;p15"/>
          <p:cNvSpPr/>
          <p:nvPr/>
        </p:nvSpPr>
        <p:spPr>
          <a:xfrm>
            <a:off x="5745175" y="1657000"/>
            <a:ext cx="2163300" cy="806100"/>
          </a:xfrm>
          <a:prstGeom prst="roundRect">
            <a:avLst>
              <a:gd fmla="val 4761" name="adj"/>
            </a:avLst>
          </a:prstGeom>
          <a:solidFill>
            <a:srgbClr val="09060B">
              <a:alpha val="60000"/>
            </a:srgbClr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666666"/>
              </a:solidFill>
            </a:endParaRPr>
          </a:p>
        </p:txBody>
      </p:sp>
      <p:sp>
        <p:nvSpPr>
          <p:cNvPr id="76" name="Google Shape;76;p15"/>
          <p:cNvSpPr txBox="1"/>
          <p:nvPr/>
        </p:nvSpPr>
        <p:spPr>
          <a:xfrm>
            <a:off x="5868031" y="1691001"/>
            <a:ext cx="1153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666666"/>
                </a:solidFill>
                <a:latin typeface="Proxima Nova"/>
                <a:ea typeface="Proxima Nova"/>
                <a:cs typeface="Proxima Nova"/>
                <a:sym typeface="Proxima Nova"/>
              </a:rPr>
              <a:t>Objetivos</a:t>
            </a:r>
            <a:endParaRPr b="1" sz="1300">
              <a:solidFill>
                <a:srgbClr val="666666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7" name="Google Shape;77;p15"/>
          <p:cNvSpPr txBox="1"/>
          <p:nvPr/>
        </p:nvSpPr>
        <p:spPr>
          <a:xfrm>
            <a:off x="5725248" y="1943735"/>
            <a:ext cx="1800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Proxima Nova"/>
              <a:buChar char="-"/>
            </a:pPr>
            <a:r>
              <a:rPr lang="pt-BR" sz="900">
                <a:solidFill>
                  <a:srgbClr val="666666"/>
                </a:solidFill>
                <a:latin typeface="Proxima Nova"/>
                <a:ea typeface="Proxima Nova"/>
                <a:cs typeface="Proxima Nova"/>
                <a:sym typeface="Proxima Nova"/>
              </a:rPr>
              <a:t>Avanço das OKRs</a:t>
            </a:r>
            <a:endParaRPr sz="900">
              <a:solidFill>
                <a:srgbClr val="666666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Proxima Nova"/>
              <a:buChar char="-"/>
            </a:pPr>
            <a:r>
              <a:rPr lang="pt-BR" sz="900">
                <a:solidFill>
                  <a:srgbClr val="666666"/>
                </a:solidFill>
                <a:latin typeface="Proxima Nova"/>
                <a:ea typeface="Proxima Nova"/>
                <a:cs typeface="Proxima Nova"/>
                <a:sym typeface="Proxima Nova"/>
              </a:rPr>
              <a:t>Step do Projeto</a:t>
            </a:r>
            <a:endParaRPr sz="900">
              <a:solidFill>
                <a:srgbClr val="666666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8" name="Google Shape;78;p15"/>
          <p:cNvSpPr/>
          <p:nvPr/>
        </p:nvSpPr>
        <p:spPr>
          <a:xfrm>
            <a:off x="5745175" y="2563142"/>
            <a:ext cx="2163300" cy="448200"/>
          </a:xfrm>
          <a:prstGeom prst="roundRect">
            <a:avLst>
              <a:gd fmla="val 4761" name="adj"/>
            </a:avLst>
          </a:prstGeom>
          <a:solidFill>
            <a:srgbClr val="09060B">
              <a:alpha val="60000"/>
            </a:srgbClr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666666"/>
              </a:solidFill>
            </a:endParaRPr>
          </a:p>
        </p:txBody>
      </p:sp>
      <p:sp>
        <p:nvSpPr>
          <p:cNvPr id="79" name="Google Shape;79;p15"/>
          <p:cNvSpPr txBox="1"/>
          <p:nvPr/>
        </p:nvSpPr>
        <p:spPr>
          <a:xfrm>
            <a:off x="5896336" y="2597141"/>
            <a:ext cx="1924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666666"/>
                </a:solidFill>
                <a:latin typeface="Proxima Nova"/>
                <a:ea typeface="Proxima Nova"/>
                <a:cs typeface="Proxima Nova"/>
                <a:sym typeface="Proxima Nova"/>
              </a:rPr>
              <a:t>Premissas e Riscos</a:t>
            </a:r>
            <a:endParaRPr b="1" sz="1300">
              <a:solidFill>
                <a:srgbClr val="666666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0" name="Google Shape;80;p15"/>
          <p:cNvSpPr/>
          <p:nvPr/>
        </p:nvSpPr>
        <p:spPr>
          <a:xfrm>
            <a:off x="5758472" y="3123866"/>
            <a:ext cx="2163300" cy="932700"/>
          </a:xfrm>
          <a:prstGeom prst="roundRect">
            <a:avLst>
              <a:gd fmla="val 4761" name="adj"/>
            </a:avLst>
          </a:prstGeom>
          <a:solidFill>
            <a:srgbClr val="09060B">
              <a:alpha val="60000"/>
            </a:srgbClr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666666"/>
              </a:solidFill>
            </a:endParaRPr>
          </a:p>
        </p:txBody>
      </p:sp>
      <p:sp>
        <p:nvSpPr>
          <p:cNvPr id="81" name="Google Shape;81;p15"/>
          <p:cNvSpPr txBox="1"/>
          <p:nvPr/>
        </p:nvSpPr>
        <p:spPr>
          <a:xfrm>
            <a:off x="5872527" y="3157861"/>
            <a:ext cx="1400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666666"/>
                </a:solidFill>
                <a:latin typeface="Proxima Nova"/>
                <a:ea typeface="Proxima Nova"/>
                <a:cs typeface="Proxima Nova"/>
                <a:sym typeface="Proxima Nova"/>
              </a:rPr>
              <a:t>Entregas</a:t>
            </a:r>
            <a:endParaRPr b="1" sz="1300">
              <a:solidFill>
                <a:srgbClr val="666666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2" name="Google Shape;82;p15"/>
          <p:cNvSpPr txBox="1"/>
          <p:nvPr/>
        </p:nvSpPr>
        <p:spPr>
          <a:xfrm>
            <a:off x="5735388" y="3410608"/>
            <a:ext cx="17958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Proxima Nova"/>
              <a:buChar char="-"/>
            </a:pPr>
            <a:r>
              <a:rPr lang="pt-BR" sz="900">
                <a:solidFill>
                  <a:srgbClr val="666666"/>
                </a:solidFill>
                <a:latin typeface="Proxima Nova"/>
                <a:ea typeface="Proxima Nova"/>
                <a:cs typeface="Proxima Nova"/>
                <a:sym typeface="Proxima Nova"/>
              </a:rPr>
              <a:t>Realizadas</a:t>
            </a:r>
            <a:endParaRPr sz="900">
              <a:solidFill>
                <a:srgbClr val="666666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Proxima Nova"/>
              <a:buChar char="-"/>
            </a:pPr>
            <a:r>
              <a:rPr lang="pt-BR" sz="900">
                <a:solidFill>
                  <a:srgbClr val="666666"/>
                </a:solidFill>
                <a:latin typeface="Proxima Nova"/>
                <a:ea typeface="Proxima Nova"/>
                <a:cs typeface="Proxima Nova"/>
                <a:sym typeface="Proxima Nova"/>
              </a:rPr>
              <a:t>Previstas</a:t>
            </a:r>
            <a:endParaRPr sz="900">
              <a:solidFill>
                <a:srgbClr val="666666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Proxima Nova"/>
              <a:buChar char="-"/>
            </a:pPr>
            <a:r>
              <a:rPr lang="pt-BR" sz="900">
                <a:solidFill>
                  <a:srgbClr val="666666"/>
                </a:solidFill>
                <a:latin typeface="Proxima Nova"/>
                <a:ea typeface="Proxima Nova"/>
                <a:cs typeface="Proxima Nova"/>
                <a:sym typeface="Proxima Nova"/>
              </a:rPr>
              <a:t>Revisão do Playbook</a:t>
            </a:r>
            <a:endParaRPr sz="900">
              <a:solidFill>
                <a:srgbClr val="666666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3" name="Google Shape;83;p15"/>
          <p:cNvSpPr/>
          <p:nvPr/>
        </p:nvSpPr>
        <p:spPr>
          <a:xfrm>
            <a:off x="5244308" y="479331"/>
            <a:ext cx="414900" cy="448200"/>
          </a:xfrm>
          <a:prstGeom prst="roundRect">
            <a:avLst>
              <a:gd fmla="val 11208" name="adj"/>
            </a:avLst>
          </a:prstGeom>
          <a:solidFill>
            <a:srgbClr val="E528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01</a:t>
            </a:r>
            <a:endParaRPr b="1" sz="13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4" name="Google Shape;84;p15"/>
          <p:cNvSpPr/>
          <p:nvPr/>
        </p:nvSpPr>
        <p:spPr>
          <a:xfrm>
            <a:off x="5250418" y="1656998"/>
            <a:ext cx="414900" cy="448200"/>
          </a:xfrm>
          <a:prstGeom prst="roundRect">
            <a:avLst>
              <a:gd fmla="val 11208" name="adj"/>
            </a:avLst>
          </a:prstGeom>
          <a:solidFill>
            <a:srgbClr val="09060B">
              <a:alpha val="60000"/>
            </a:srgbClr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666666"/>
                </a:solidFill>
                <a:latin typeface="Proxima Nova"/>
                <a:ea typeface="Proxima Nova"/>
                <a:cs typeface="Proxima Nova"/>
                <a:sym typeface="Proxima Nova"/>
              </a:rPr>
              <a:t>02</a:t>
            </a:r>
            <a:endParaRPr b="1" sz="1300">
              <a:solidFill>
                <a:srgbClr val="666666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5" name="Google Shape;85;p15"/>
          <p:cNvSpPr/>
          <p:nvPr/>
        </p:nvSpPr>
        <p:spPr>
          <a:xfrm>
            <a:off x="5244298" y="2563363"/>
            <a:ext cx="414900" cy="448200"/>
          </a:xfrm>
          <a:prstGeom prst="roundRect">
            <a:avLst>
              <a:gd fmla="val 11208" name="adj"/>
            </a:avLst>
          </a:prstGeom>
          <a:solidFill>
            <a:srgbClr val="09060B">
              <a:alpha val="60000"/>
            </a:srgbClr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666666"/>
                </a:solidFill>
                <a:latin typeface="Proxima Nova"/>
                <a:ea typeface="Proxima Nova"/>
                <a:cs typeface="Proxima Nova"/>
                <a:sym typeface="Proxima Nova"/>
              </a:rPr>
              <a:t>03</a:t>
            </a:r>
            <a:endParaRPr b="1" sz="1300">
              <a:solidFill>
                <a:srgbClr val="666666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6" name="Google Shape;86;p15"/>
          <p:cNvSpPr/>
          <p:nvPr/>
        </p:nvSpPr>
        <p:spPr>
          <a:xfrm>
            <a:off x="5250418" y="3112988"/>
            <a:ext cx="414900" cy="448200"/>
          </a:xfrm>
          <a:prstGeom prst="roundRect">
            <a:avLst>
              <a:gd fmla="val 11208" name="adj"/>
            </a:avLst>
          </a:prstGeom>
          <a:solidFill>
            <a:srgbClr val="09060B">
              <a:alpha val="60000"/>
            </a:srgbClr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666666"/>
                </a:solidFill>
                <a:latin typeface="Proxima Nova"/>
                <a:ea typeface="Proxima Nova"/>
                <a:cs typeface="Proxima Nova"/>
                <a:sym typeface="Proxima Nova"/>
              </a:rPr>
              <a:t>04</a:t>
            </a:r>
            <a:endParaRPr b="1" sz="1300">
              <a:solidFill>
                <a:srgbClr val="666666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7" name="Google Shape;87;p15"/>
          <p:cNvSpPr/>
          <p:nvPr/>
        </p:nvSpPr>
        <p:spPr>
          <a:xfrm>
            <a:off x="5780381" y="4179860"/>
            <a:ext cx="2163300" cy="448200"/>
          </a:xfrm>
          <a:prstGeom prst="roundRect">
            <a:avLst>
              <a:gd fmla="val 4761" name="adj"/>
            </a:avLst>
          </a:prstGeom>
          <a:solidFill>
            <a:srgbClr val="09060B">
              <a:alpha val="60000"/>
            </a:srgbClr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666666"/>
              </a:solidFill>
            </a:endParaRPr>
          </a:p>
        </p:txBody>
      </p:sp>
      <p:sp>
        <p:nvSpPr>
          <p:cNvPr id="88" name="Google Shape;88;p15"/>
          <p:cNvSpPr txBox="1"/>
          <p:nvPr/>
        </p:nvSpPr>
        <p:spPr>
          <a:xfrm>
            <a:off x="5931541" y="4213859"/>
            <a:ext cx="1924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666666"/>
                </a:solidFill>
                <a:latin typeface="Proxima Nova"/>
                <a:ea typeface="Proxima Nova"/>
                <a:cs typeface="Proxima Nova"/>
                <a:sym typeface="Proxima Nova"/>
              </a:rPr>
              <a:t>Próximos Passos</a:t>
            </a:r>
            <a:endParaRPr b="1" sz="1300">
              <a:solidFill>
                <a:srgbClr val="666666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9" name="Google Shape;89;p15"/>
          <p:cNvSpPr/>
          <p:nvPr/>
        </p:nvSpPr>
        <p:spPr>
          <a:xfrm>
            <a:off x="5279504" y="4180081"/>
            <a:ext cx="414900" cy="448200"/>
          </a:xfrm>
          <a:prstGeom prst="roundRect">
            <a:avLst>
              <a:gd fmla="val 11208" name="adj"/>
            </a:avLst>
          </a:prstGeom>
          <a:solidFill>
            <a:srgbClr val="09060B">
              <a:alpha val="60000"/>
            </a:srgbClr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666666"/>
                </a:solidFill>
                <a:latin typeface="Proxima Nova"/>
                <a:ea typeface="Proxima Nova"/>
                <a:cs typeface="Proxima Nova"/>
                <a:sym typeface="Proxima Nova"/>
              </a:rPr>
              <a:t>05</a:t>
            </a:r>
            <a:endParaRPr b="1" sz="1300">
              <a:solidFill>
                <a:srgbClr val="666666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90" name="Google Shape;90;p15"/>
          <p:cNvPicPr preferRelativeResize="0"/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>
            <a:off x="7573381" y="1822603"/>
            <a:ext cx="160650" cy="160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5"/>
          <p:cNvPicPr preferRelativeResize="0"/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>
            <a:off x="7573381" y="2713166"/>
            <a:ext cx="160650" cy="160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5"/>
          <p:cNvPicPr preferRelativeResize="0"/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>
            <a:off x="7573381" y="3282929"/>
            <a:ext cx="160650" cy="160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5"/>
          <p:cNvPicPr preferRelativeResize="0"/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>
            <a:off x="7573381" y="4325979"/>
            <a:ext cx="160650" cy="16065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5"/>
          <p:cNvSpPr txBox="1"/>
          <p:nvPr/>
        </p:nvSpPr>
        <p:spPr>
          <a:xfrm>
            <a:off x="773491" y="1977017"/>
            <a:ext cx="3382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ROPRE</a:t>
            </a:r>
            <a:endParaRPr sz="24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95" name="Google Shape;95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73381" y="631425"/>
            <a:ext cx="160650" cy="16065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5"/>
          <p:cNvSpPr txBox="1"/>
          <p:nvPr/>
        </p:nvSpPr>
        <p:spPr>
          <a:xfrm>
            <a:off x="8393925" y="4715316"/>
            <a:ext cx="74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7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LOGO DA UNIDADE</a:t>
            </a:r>
            <a:endParaRPr b="1" sz="700">
              <a:solidFill>
                <a:srgbClr val="FFFFF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6"/>
          <p:cNvSpPr txBox="1"/>
          <p:nvPr/>
        </p:nvSpPr>
        <p:spPr>
          <a:xfrm>
            <a:off x="514970" y="166382"/>
            <a:ext cx="3706800" cy="56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Results</a:t>
            </a:r>
            <a:endParaRPr b="1" sz="2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2" name="Google Shape;102;p16"/>
          <p:cNvSpPr/>
          <p:nvPr/>
        </p:nvSpPr>
        <p:spPr>
          <a:xfrm>
            <a:off x="606400" y="2333076"/>
            <a:ext cx="3810900" cy="915600"/>
          </a:xfrm>
          <a:prstGeom prst="roundRect">
            <a:avLst>
              <a:gd fmla="val 5968" name="adj"/>
            </a:avLst>
          </a:prstGeom>
          <a:solidFill>
            <a:srgbClr val="09060B">
              <a:alpha val="60000"/>
            </a:srgbClr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6"/>
          <p:cNvSpPr txBox="1"/>
          <p:nvPr/>
        </p:nvSpPr>
        <p:spPr>
          <a:xfrm>
            <a:off x="817334" y="2329815"/>
            <a:ext cx="1296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ED1B1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Valor investido</a:t>
            </a:r>
            <a:endParaRPr sz="1100">
              <a:solidFill>
                <a:srgbClr val="ED1B18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104" name="Google Shape;10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31960" y="324874"/>
            <a:ext cx="279000" cy="27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94291" y="2708040"/>
            <a:ext cx="295899" cy="26278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6"/>
          <p:cNvSpPr/>
          <p:nvPr/>
        </p:nvSpPr>
        <p:spPr>
          <a:xfrm>
            <a:off x="4672921" y="2325900"/>
            <a:ext cx="1785600" cy="915600"/>
          </a:xfrm>
          <a:prstGeom prst="roundRect">
            <a:avLst>
              <a:gd fmla="val 5968" name="adj"/>
            </a:avLst>
          </a:prstGeom>
          <a:solidFill>
            <a:srgbClr val="09060B">
              <a:alpha val="60000"/>
            </a:srgbClr>
          </a:solidFill>
          <a:ln cap="flat" cmpd="sng" w="9525">
            <a:solidFill>
              <a:srgbClr val="ED1B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6"/>
          <p:cNvSpPr txBox="1"/>
          <p:nvPr/>
        </p:nvSpPr>
        <p:spPr>
          <a:xfrm>
            <a:off x="4883854" y="2329815"/>
            <a:ext cx="1296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ED1B1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Impressões</a:t>
            </a:r>
            <a:endParaRPr sz="1100">
              <a:solidFill>
                <a:srgbClr val="ED1B18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08" name="Google Shape;108;p16"/>
          <p:cNvSpPr/>
          <p:nvPr/>
        </p:nvSpPr>
        <p:spPr>
          <a:xfrm>
            <a:off x="6721610" y="2325900"/>
            <a:ext cx="1785600" cy="915600"/>
          </a:xfrm>
          <a:prstGeom prst="roundRect">
            <a:avLst>
              <a:gd fmla="val 5968" name="adj"/>
            </a:avLst>
          </a:prstGeom>
          <a:solidFill>
            <a:srgbClr val="09060B">
              <a:alpha val="60000"/>
            </a:srgbClr>
          </a:solidFill>
          <a:ln cap="flat" cmpd="sng" w="9525">
            <a:solidFill>
              <a:srgbClr val="ED1B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6"/>
          <p:cNvSpPr txBox="1"/>
          <p:nvPr/>
        </p:nvSpPr>
        <p:spPr>
          <a:xfrm>
            <a:off x="6932544" y="2329815"/>
            <a:ext cx="1296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ED1B1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Alcance</a:t>
            </a:r>
            <a:endParaRPr sz="1100">
              <a:solidFill>
                <a:srgbClr val="ED1B18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10" name="Google Shape;110;p16"/>
          <p:cNvSpPr/>
          <p:nvPr/>
        </p:nvSpPr>
        <p:spPr>
          <a:xfrm>
            <a:off x="606400" y="3471844"/>
            <a:ext cx="1785600" cy="1039800"/>
          </a:xfrm>
          <a:prstGeom prst="roundRect">
            <a:avLst>
              <a:gd fmla="val 5968" name="adj"/>
            </a:avLst>
          </a:prstGeom>
          <a:solidFill>
            <a:srgbClr val="09060B">
              <a:alpha val="60000"/>
            </a:srgbClr>
          </a:solidFill>
          <a:ln cap="flat" cmpd="sng" w="9525">
            <a:solidFill>
              <a:srgbClr val="ED1B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6"/>
          <p:cNvSpPr txBox="1"/>
          <p:nvPr/>
        </p:nvSpPr>
        <p:spPr>
          <a:xfrm>
            <a:off x="817334" y="3582480"/>
            <a:ext cx="1296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ED1B1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Leads</a:t>
            </a:r>
            <a:endParaRPr sz="1100">
              <a:solidFill>
                <a:srgbClr val="ED1B18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12" name="Google Shape;112;p16"/>
          <p:cNvSpPr/>
          <p:nvPr/>
        </p:nvSpPr>
        <p:spPr>
          <a:xfrm>
            <a:off x="1677425" y="4221143"/>
            <a:ext cx="832500" cy="247800"/>
          </a:xfrm>
          <a:prstGeom prst="roundRect">
            <a:avLst>
              <a:gd fmla="val 50000" name="adj"/>
            </a:avLst>
          </a:prstGeom>
          <a:solidFill>
            <a:srgbClr val="26C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3" name="Google Shape;113;p16"/>
          <p:cNvSpPr/>
          <p:nvPr/>
        </p:nvSpPr>
        <p:spPr>
          <a:xfrm>
            <a:off x="2639057" y="3471844"/>
            <a:ext cx="1553100" cy="1039800"/>
          </a:xfrm>
          <a:prstGeom prst="roundRect">
            <a:avLst>
              <a:gd fmla="val 5968" name="adj"/>
            </a:avLst>
          </a:prstGeom>
          <a:solidFill>
            <a:srgbClr val="09060B">
              <a:alpha val="60000"/>
            </a:srgbClr>
          </a:solidFill>
          <a:ln cap="flat" cmpd="sng" w="9525">
            <a:solidFill>
              <a:srgbClr val="ED1B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6"/>
          <p:cNvSpPr txBox="1"/>
          <p:nvPr/>
        </p:nvSpPr>
        <p:spPr>
          <a:xfrm>
            <a:off x="2849996" y="3582480"/>
            <a:ext cx="1296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ED1B1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MQL</a:t>
            </a:r>
            <a:endParaRPr sz="1100">
              <a:solidFill>
                <a:srgbClr val="ED1B18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15" name="Google Shape;115;p16"/>
          <p:cNvSpPr/>
          <p:nvPr/>
        </p:nvSpPr>
        <p:spPr>
          <a:xfrm>
            <a:off x="3384339" y="4221143"/>
            <a:ext cx="879300" cy="247800"/>
          </a:xfrm>
          <a:prstGeom prst="roundRect">
            <a:avLst>
              <a:gd fmla="val 50000" name="adj"/>
            </a:avLst>
          </a:prstGeom>
          <a:solidFill>
            <a:srgbClr val="6CE8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6" name="Google Shape;116;p16"/>
          <p:cNvSpPr/>
          <p:nvPr/>
        </p:nvSpPr>
        <p:spPr>
          <a:xfrm>
            <a:off x="4439615" y="3471844"/>
            <a:ext cx="1348200" cy="1039800"/>
          </a:xfrm>
          <a:prstGeom prst="roundRect">
            <a:avLst>
              <a:gd fmla="val 5968" name="adj"/>
            </a:avLst>
          </a:prstGeom>
          <a:solidFill>
            <a:srgbClr val="09060B">
              <a:alpha val="60000"/>
            </a:srgbClr>
          </a:solidFill>
          <a:ln cap="flat" cmpd="sng" w="9525">
            <a:solidFill>
              <a:srgbClr val="ED1B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6"/>
          <p:cNvSpPr txBox="1"/>
          <p:nvPr/>
        </p:nvSpPr>
        <p:spPr>
          <a:xfrm>
            <a:off x="4632126" y="3582480"/>
            <a:ext cx="1296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ED1B1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SQL</a:t>
            </a:r>
            <a:endParaRPr sz="1100">
              <a:solidFill>
                <a:srgbClr val="ED1B18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18" name="Google Shape;118;p16"/>
          <p:cNvSpPr/>
          <p:nvPr/>
        </p:nvSpPr>
        <p:spPr>
          <a:xfrm>
            <a:off x="4920772" y="4221143"/>
            <a:ext cx="959400" cy="247800"/>
          </a:xfrm>
          <a:prstGeom prst="roundRect">
            <a:avLst>
              <a:gd fmla="val 50000" name="adj"/>
            </a:avLst>
          </a:prstGeom>
          <a:solidFill>
            <a:srgbClr val="6CE8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9" name="Google Shape;119;p16"/>
          <p:cNvSpPr/>
          <p:nvPr/>
        </p:nvSpPr>
        <p:spPr>
          <a:xfrm>
            <a:off x="6061083" y="3471844"/>
            <a:ext cx="2446200" cy="1039800"/>
          </a:xfrm>
          <a:prstGeom prst="roundRect">
            <a:avLst>
              <a:gd fmla="val 5968" name="adj"/>
            </a:avLst>
          </a:prstGeom>
          <a:solidFill>
            <a:srgbClr val="09060B">
              <a:alpha val="60000"/>
            </a:srgbClr>
          </a:solidFill>
          <a:ln cap="flat" cmpd="sng" w="9525">
            <a:solidFill>
              <a:srgbClr val="ED1B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6286022" y="3582480"/>
            <a:ext cx="1296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6CE86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Vendas</a:t>
            </a:r>
            <a:endParaRPr sz="1100">
              <a:solidFill>
                <a:srgbClr val="6CE86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21" name="Google Shape;121;p16"/>
          <p:cNvSpPr/>
          <p:nvPr/>
        </p:nvSpPr>
        <p:spPr>
          <a:xfrm>
            <a:off x="7665775" y="4221143"/>
            <a:ext cx="959400" cy="247800"/>
          </a:xfrm>
          <a:prstGeom prst="roundRect">
            <a:avLst>
              <a:gd fmla="val 50000" name="adj"/>
            </a:avLst>
          </a:prstGeom>
          <a:solidFill>
            <a:srgbClr val="6CE8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22" name="Google Shape;122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143275" y="4659497"/>
            <a:ext cx="295900" cy="3155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8"/>
          <p:cNvSpPr txBox="1"/>
          <p:nvPr/>
        </p:nvSpPr>
        <p:spPr>
          <a:xfrm>
            <a:off x="514970" y="775983"/>
            <a:ext cx="3706800" cy="56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Results</a:t>
            </a:r>
            <a:endParaRPr b="1" sz="2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2" name="Google Shape;132;p18"/>
          <p:cNvSpPr/>
          <p:nvPr/>
        </p:nvSpPr>
        <p:spPr>
          <a:xfrm>
            <a:off x="606400" y="1626604"/>
            <a:ext cx="3810900" cy="1031100"/>
          </a:xfrm>
          <a:prstGeom prst="roundRect">
            <a:avLst>
              <a:gd fmla="val 5968" name="adj"/>
            </a:avLst>
          </a:prstGeom>
          <a:solidFill>
            <a:srgbClr val="09060B">
              <a:alpha val="60000"/>
            </a:srgbClr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8"/>
          <p:cNvSpPr txBox="1"/>
          <p:nvPr/>
        </p:nvSpPr>
        <p:spPr>
          <a:xfrm>
            <a:off x="817335" y="1743112"/>
            <a:ext cx="1296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ED1B1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Valor investido</a:t>
            </a:r>
            <a:endParaRPr sz="1100">
              <a:solidFill>
                <a:srgbClr val="ED1B18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134" name="Google Shape;13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31960" y="934474"/>
            <a:ext cx="279000" cy="279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8"/>
          <p:cNvSpPr/>
          <p:nvPr/>
        </p:nvSpPr>
        <p:spPr>
          <a:xfrm>
            <a:off x="4672921" y="1618522"/>
            <a:ext cx="1785600" cy="1031100"/>
          </a:xfrm>
          <a:prstGeom prst="roundRect">
            <a:avLst>
              <a:gd fmla="val 5968" name="adj"/>
            </a:avLst>
          </a:prstGeom>
          <a:solidFill>
            <a:srgbClr val="09060B">
              <a:alpha val="60000"/>
            </a:srgbClr>
          </a:solidFill>
          <a:ln cap="flat" cmpd="sng" w="9525">
            <a:solidFill>
              <a:srgbClr val="ED1B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8"/>
          <p:cNvSpPr txBox="1"/>
          <p:nvPr/>
        </p:nvSpPr>
        <p:spPr>
          <a:xfrm>
            <a:off x="4883855" y="1743112"/>
            <a:ext cx="1296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ED1B1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Impressões</a:t>
            </a:r>
            <a:endParaRPr sz="1100">
              <a:solidFill>
                <a:srgbClr val="ED1B18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37" name="Google Shape;137;p18"/>
          <p:cNvSpPr/>
          <p:nvPr/>
        </p:nvSpPr>
        <p:spPr>
          <a:xfrm>
            <a:off x="6721612" y="1618522"/>
            <a:ext cx="1785600" cy="1031100"/>
          </a:xfrm>
          <a:prstGeom prst="roundRect">
            <a:avLst>
              <a:gd fmla="val 5968" name="adj"/>
            </a:avLst>
          </a:prstGeom>
          <a:solidFill>
            <a:srgbClr val="09060B">
              <a:alpha val="60000"/>
            </a:srgbClr>
          </a:solidFill>
          <a:ln cap="flat" cmpd="sng" w="9525">
            <a:solidFill>
              <a:srgbClr val="ED1B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8"/>
          <p:cNvSpPr txBox="1"/>
          <p:nvPr/>
        </p:nvSpPr>
        <p:spPr>
          <a:xfrm>
            <a:off x="6932545" y="1743112"/>
            <a:ext cx="1296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ED1B1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Alcance</a:t>
            </a:r>
            <a:endParaRPr sz="1100">
              <a:solidFill>
                <a:srgbClr val="ED1B18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39" name="Google Shape;139;p18"/>
          <p:cNvSpPr/>
          <p:nvPr/>
        </p:nvSpPr>
        <p:spPr>
          <a:xfrm>
            <a:off x="606400" y="2908994"/>
            <a:ext cx="1785600" cy="1170900"/>
          </a:xfrm>
          <a:prstGeom prst="roundRect">
            <a:avLst>
              <a:gd fmla="val 5968" name="adj"/>
            </a:avLst>
          </a:prstGeom>
          <a:solidFill>
            <a:srgbClr val="09060B">
              <a:alpha val="60000"/>
            </a:srgbClr>
          </a:solidFill>
          <a:ln cap="flat" cmpd="sng" w="9525">
            <a:solidFill>
              <a:srgbClr val="ED1B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8"/>
          <p:cNvSpPr txBox="1"/>
          <p:nvPr/>
        </p:nvSpPr>
        <p:spPr>
          <a:xfrm>
            <a:off x="817335" y="3033584"/>
            <a:ext cx="1296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ED1B1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Leads</a:t>
            </a:r>
            <a:endParaRPr sz="1100">
              <a:solidFill>
                <a:srgbClr val="ED1B18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41" name="Google Shape;141;p18"/>
          <p:cNvSpPr/>
          <p:nvPr/>
        </p:nvSpPr>
        <p:spPr>
          <a:xfrm>
            <a:off x="1677425" y="3752796"/>
            <a:ext cx="832500" cy="279000"/>
          </a:xfrm>
          <a:prstGeom prst="roundRect">
            <a:avLst>
              <a:gd fmla="val 50000" name="adj"/>
            </a:avLst>
          </a:prstGeom>
          <a:solidFill>
            <a:srgbClr val="26C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2" name="Google Shape;142;p18"/>
          <p:cNvSpPr/>
          <p:nvPr/>
        </p:nvSpPr>
        <p:spPr>
          <a:xfrm>
            <a:off x="2639058" y="2908994"/>
            <a:ext cx="1553100" cy="1170900"/>
          </a:xfrm>
          <a:prstGeom prst="roundRect">
            <a:avLst>
              <a:gd fmla="val 5968" name="adj"/>
            </a:avLst>
          </a:prstGeom>
          <a:solidFill>
            <a:srgbClr val="09060B">
              <a:alpha val="60000"/>
            </a:srgbClr>
          </a:solidFill>
          <a:ln cap="flat" cmpd="sng" w="9525">
            <a:solidFill>
              <a:srgbClr val="ED1B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8"/>
          <p:cNvSpPr txBox="1"/>
          <p:nvPr/>
        </p:nvSpPr>
        <p:spPr>
          <a:xfrm>
            <a:off x="2849997" y="3033584"/>
            <a:ext cx="1296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ED1B1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MQL</a:t>
            </a:r>
            <a:endParaRPr sz="1100">
              <a:solidFill>
                <a:srgbClr val="ED1B18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44" name="Google Shape;144;p18"/>
          <p:cNvSpPr/>
          <p:nvPr/>
        </p:nvSpPr>
        <p:spPr>
          <a:xfrm>
            <a:off x="3384339" y="3752796"/>
            <a:ext cx="879300" cy="279000"/>
          </a:xfrm>
          <a:prstGeom prst="roundRect">
            <a:avLst>
              <a:gd fmla="val 50000" name="adj"/>
            </a:avLst>
          </a:prstGeom>
          <a:solidFill>
            <a:srgbClr val="6CE8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5" name="Google Shape;145;p18"/>
          <p:cNvSpPr/>
          <p:nvPr/>
        </p:nvSpPr>
        <p:spPr>
          <a:xfrm>
            <a:off x="4439616" y="2908994"/>
            <a:ext cx="1348200" cy="1170900"/>
          </a:xfrm>
          <a:prstGeom prst="roundRect">
            <a:avLst>
              <a:gd fmla="val 5968" name="adj"/>
            </a:avLst>
          </a:prstGeom>
          <a:solidFill>
            <a:srgbClr val="09060B">
              <a:alpha val="60000"/>
            </a:srgbClr>
          </a:solidFill>
          <a:ln cap="flat" cmpd="sng" w="9525">
            <a:solidFill>
              <a:srgbClr val="ED1B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8"/>
          <p:cNvSpPr txBox="1"/>
          <p:nvPr/>
        </p:nvSpPr>
        <p:spPr>
          <a:xfrm>
            <a:off x="4632127" y="3033584"/>
            <a:ext cx="1296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ED1B1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SQL</a:t>
            </a:r>
            <a:endParaRPr sz="1100">
              <a:solidFill>
                <a:srgbClr val="ED1B18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47" name="Google Shape;147;p18"/>
          <p:cNvSpPr/>
          <p:nvPr/>
        </p:nvSpPr>
        <p:spPr>
          <a:xfrm>
            <a:off x="4920773" y="3752796"/>
            <a:ext cx="959400" cy="279000"/>
          </a:xfrm>
          <a:prstGeom prst="roundRect">
            <a:avLst>
              <a:gd fmla="val 50000" name="adj"/>
            </a:avLst>
          </a:prstGeom>
          <a:solidFill>
            <a:srgbClr val="6CE8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8" name="Google Shape;148;p18"/>
          <p:cNvSpPr/>
          <p:nvPr/>
        </p:nvSpPr>
        <p:spPr>
          <a:xfrm>
            <a:off x="6061084" y="2908994"/>
            <a:ext cx="2446200" cy="1170900"/>
          </a:xfrm>
          <a:prstGeom prst="roundRect">
            <a:avLst>
              <a:gd fmla="val 5968" name="adj"/>
            </a:avLst>
          </a:prstGeom>
          <a:solidFill>
            <a:srgbClr val="09060B">
              <a:alpha val="60000"/>
            </a:srgbClr>
          </a:solidFill>
          <a:ln cap="flat" cmpd="sng" w="9525">
            <a:solidFill>
              <a:srgbClr val="ED1B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8"/>
          <p:cNvSpPr txBox="1"/>
          <p:nvPr/>
        </p:nvSpPr>
        <p:spPr>
          <a:xfrm>
            <a:off x="6286023" y="3033584"/>
            <a:ext cx="1296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6CE86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Vendas</a:t>
            </a:r>
            <a:endParaRPr sz="1100">
              <a:solidFill>
                <a:srgbClr val="6CE86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50" name="Google Shape;150;p18"/>
          <p:cNvSpPr/>
          <p:nvPr/>
        </p:nvSpPr>
        <p:spPr>
          <a:xfrm>
            <a:off x="7665776" y="3752796"/>
            <a:ext cx="959400" cy="279000"/>
          </a:xfrm>
          <a:prstGeom prst="roundRect">
            <a:avLst>
              <a:gd fmla="val 50000" name="adj"/>
            </a:avLst>
          </a:prstGeom>
          <a:solidFill>
            <a:srgbClr val="6CE8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51" name="Google Shape;151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43275" y="4676850"/>
            <a:ext cx="295900" cy="298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23178" y="2097100"/>
            <a:ext cx="205400" cy="20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9"/>
          <p:cNvSpPr txBox="1"/>
          <p:nvPr/>
        </p:nvSpPr>
        <p:spPr>
          <a:xfrm>
            <a:off x="1510500" y="463200"/>
            <a:ext cx="6123000" cy="39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Visão atual | Setembro</a:t>
            </a:r>
            <a:endParaRPr b="1" sz="24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8" name="Google Shape;158;p19"/>
          <p:cNvSpPr txBox="1"/>
          <p:nvPr/>
        </p:nvSpPr>
        <p:spPr>
          <a:xfrm>
            <a:off x="4958700" y="1995688"/>
            <a:ext cx="706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3,</a:t>
            </a:r>
            <a:r>
              <a:rPr lang="pt-BR" sz="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82</a:t>
            </a:r>
            <a:r>
              <a:rPr lang="pt-BR" sz="700">
                <a:solidFill>
                  <a:srgbClr val="F4F4F4"/>
                </a:solidFill>
                <a:latin typeface="Montserrat"/>
                <a:ea typeface="Montserrat"/>
                <a:cs typeface="Montserrat"/>
                <a:sym typeface="Montserrat"/>
              </a:rPr>
              <a:t>%</a:t>
            </a:r>
            <a:endParaRPr i="0" sz="700" u="none" cap="none" strike="noStrike">
              <a:solidFill>
                <a:srgbClr val="F4F4F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9" name="Google Shape;159;p19"/>
          <p:cNvSpPr/>
          <p:nvPr/>
        </p:nvSpPr>
        <p:spPr>
          <a:xfrm>
            <a:off x="5407825" y="1864001"/>
            <a:ext cx="143700" cy="6021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i="0" sz="11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0" name="Google Shape;160;p19"/>
          <p:cNvSpPr/>
          <p:nvPr/>
        </p:nvSpPr>
        <p:spPr>
          <a:xfrm>
            <a:off x="5407825" y="2466088"/>
            <a:ext cx="143700" cy="6021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i="0" sz="11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1" name="Google Shape;161;p19"/>
          <p:cNvSpPr txBox="1"/>
          <p:nvPr/>
        </p:nvSpPr>
        <p:spPr>
          <a:xfrm>
            <a:off x="4958700" y="2597801"/>
            <a:ext cx="706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r>
              <a:rPr lang="pt-BR" sz="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,</a:t>
            </a:r>
            <a:r>
              <a:rPr lang="pt-BR" sz="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56</a:t>
            </a:r>
            <a:r>
              <a:rPr lang="pt-BR" sz="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%</a:t>
            </a:r>
            <a:endParaRPr i="0" sz="700" u="none" cap="none" strike="noStrike">
              <a:solidFill>
                <a:srgbClr val="F4F4F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2" name="Google Shape;162;p19"/>
          <p:cNvSpPr/>
          <p:nvPr/>
        </p:nvSpPr>
        <p:spPr>
          <a:xfrm>
            <a:off x="5407825" y="3092504"/>
            <a:ext cx="143700" cy="602100"/>
          </a:xfrm>
          <a:prstGeom prst="leftBrace">
            <a:avLst>
              <a:gd fmla="val 42876" name="adj1"/>
              <a:gd fmla="val 50000" name="adj2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i="0" sz="11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>
            <a:off x="4897925" y="3232001"/>
            <a:ext cx="706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98,52%</a:t>
            </a:r>
            <a:endParaRPr i="0" sz="700" u="none" cap="none" strike="noStrike">
              <a:solidFill>
                <a:srgbClr val="F4F4F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4" name="Google Shape;164;p19"/>
          <p:cNvSpPr/>
          <p:nvPr/>
        </p:nvSpPr>
        <p:spPr>
          <a:xfrm>
            <a:off x="5627738" y="3453200"/>
            <a:ext cx="1179900" cy="469500"/>
          </a:xfrm>
          <a:prstGeom prst="roundRect">
            <a:avLst>
              <a:gd fmla="val 0" name="adj"/>
            </a:avLst>
          </a:prstGeom>
          <a:noFill/>
          <a:ln cap="flat" cmpd="sng" w="9525">
            <a:solidFill>
              <a:srgbClr val="439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267 </a:t>
            </a:r>
            <a:r>
              <a:rPr i="0" lang="pt-BR" sz="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| Vendas</a:t>
            </a:r>
            <a:endParaRPr i="0" sz="8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5" name="Google Shape;165;p19"/>
          <p:cNvSpPr/>
          <p:nvPr/>
        </p:nvSpPr>
        <p:spPr>
          <a:xfrm>
            <a:off x="6671851" y="3594776"/>
            <a:ext cx="1093800" cy="290100"/>
          </a:xfrm>
          <a:prstGeom prst="roundRect">
            <a:avLst>
              <a:gd fmla="val 21290" name="adj"/>
            </a:avLst>
          </a:prstGeom>
          <a:solidFill>
            <a:srgbClr val="439C1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pt-BR" sz="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R$ 1.097.378,98</a:t>
            </a:r>
            <a:endParaRPr i="0" sz="6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6" name="Google Shape;166;p19"/>
          <p:cNvSpPr/>
          <p:nvPr/>
        </p:nvSpPr>
        <p:spPr>
          <a:xfrm>
            <a:off x="6654687" y="3466556"/>
            <a:ext cx="706800" cy="197700"/>
          </a:xfrm>
          <a:prstGeom prst="roundRect">
            <a:avLst>
              <a:gd fmla="val 27757" name="adj"/>
            </a:avLst>
          </a:prstGeom>
          <a:solidFill>
            <a:srgbClr val="EAC7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pt-BR" sz="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R$ 131,33</a:t>
            </a:r>
            <a:endParaRPr i="0" sz="5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7" name="Google Shape;167;p19"/>
          <p:cNvSpPr/>
          <p:nvPr/>
        </p:nvSpPr>
        <p:spPr>
          <a:xfrm>
            <a:off x="4663750" y="2466122"/>
            <a:ext cx="143700" cy="1319100"/>
          </a:xfrm>
          <a:prstGeom prst="leftBrace">
            <a:avLst>
              <a:gd fmla="val 42876" name="adj1"/>
              <a:gd fmla="val 50000" name="adj2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i="0" sz="11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8" name="Google Shape;168;p19"/>
          <p:cNvSpPr txBox="1"/>
          <p:nvPr/>
        </p:nvSpPr>
        <p:spPr>
          <a:xfrm>
            <a:off x="4168125" y="2971763"/>
            <a:ext cx="706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0,56%</a:t>
            </a:r>
            <a:endParaRPr i="0" sz="700" u="none" cap="none" strike="noStrike">
              <a:solidFill>
                <a:srgbClr val="F4F4F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9" name="Google Shape;169;p19"/>
          <p:cNvSpPr txBox="1"/>
          <p:nvPr/>
        </p:nvSpPr>
        <p:spPr>
          <a:xfrm>
            <a:off x="740550" y="1688900"/>
            <a:ext cx="34809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00"/>
              <a:buFont typeface="Arial"/>
              <a:buNone/>
            </a:pPr>
            <a:r>
              <a:rPr b="1" lang="pt-BR" sz="9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12</a:t>
            </a:r>
            <a:r>
              <a:rPr b="1" lang="pt-BR" sz="9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r>
              <a:rPr b="1" lang="pt-BR" sz="4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</a:t>
            </a:r>
            <a:endParaRPr b="1" i="0" sz="96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0" name="Google Shape;170;p19"/>
          <p:cNvSpPr txBox="1"/>
          <p:nvPr/>
        </p:nvSpPr>
        <p:spPr>
          <a:xfrm>
            <a:off x="848079" y="3070063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lang="pt-BR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Fatured Sales</a:t>
            </a:r>
            <a:endParaRPr b="1" i="0" sz="16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1" name="Google Shape;171;p19"/>
          <p:cNvSpPr/>
          <p:nvPr/>
        </p:nvSpPr>
        <p:spPr>
          <a:xfrm>
            <a:off x="939400" y="3454975"/>
            <a:ext cx="1936500" cy="354000"/>
          </a:xfrm>
          <a:prstGeom prst="roundRect">
            <a:avLst>
              <a:gd fmla="val 0" name="adj"/>
            </a:avLst>
          </a:prstGeom>
          <a:solidFill>
            <a:srgbClr val="E52832">
              <a:alpha val="33130"/>
            </a:srgbClr>
          </a:solidFill>
          <a:ln>
            <a:noFill/>
          </a:ln>
        </p:spPr>
        <p:txBody>
          <a:bodyPr anchorCtr="0" anchor="ctr" bIns="91425" lIns="1800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Invested Amount</a:t>
            </a:r>
            <a:r>
              <a:rPr i="0" lang="pt-BR" sz="7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: </a:t>
            </a:r>
            <a:r>
              <a:rPr lang="pt-BR" sz="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R$ 35.063,85</a:t>
            </a:r>
            <a:endParaRPr i="0" sz="7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2" name="Google Shape;172;p19"/>
          <p:cNvSpPr/>
          <p:nvPr/>
        </p:nvSpPr>
        <p:spPr>
          <a:xfrm>
            <a:off x="5627725" y="1612700"/>
            <a:ext cx="1715100" cy="523200"/>
          </a:xfrm>
          <a:prstGeom prst="roundRect">
            <a:avLst>
              <a:gd fmla="val 0" name="adj"/>
            </a:avLst>
          </a:prstGeom>
          <a:noFill/>
          <a:ln cap="flat" cmpd="sng" w="9525">
            <a:solidFill>
              <a:srgbClr val="E528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1.254.386</a:t>
            </a:r>
            <a:r>
              <a:rPr i="0" lang="pt-BR" sz="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| Impressões</a:t>
            </a:r>
            <a:endParaRPr i="0" sz="8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3" name="Google Shape;173;p19"/>
          <p:cNvSpPr/>
          <p:nvPr/>
        </p:nvSpPr>
        <p:spPr>
          <a:xfrm>
            <a:off x="7210950" y="1704950"/>
            <a:ext cx="756900" cy="338700"/>
          </a:xfrm>
          <a:prstGeom prst="roundRect">
            <a:avLst>
              <a:gd fmla="val 18302" name="adj"/>
            </a:avLst>
          </a:prstGeom>
          <a:solidFill>
            <a:srgbClr val="EAC7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R$ 27,95</a:t>
            </a:r>
            <a:endParaRPr i="0" sz="6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4" name="Google Shape;174;p19"/>
          <p:cNvSpPr/>
          <p:nvPr/>
        </p:nvSpPr>
        <p:spPr>
          <a:xfrm>
            <a:off x="5627725" y="2212242"/>
            <a:ext cx="1473300" cy="523200"/>
          </a:xfrm>
          <a:prstGeom prst="roundRect">
            <a:avLst>
              <a:gd fmla="val 0" name="adj"/>
            </a:avLst>
          </a:prstGeom>
          <a:noFill/>
          <a:ln cap="flat" cmpd="sng" w="9525">
            <a:solidFill>
              <a:srgbClr val="E528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48.005 </a:t>
            </a:r>
            <a:r>
              <a:rPr i="0" lang="pt-BR" sz="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| Sessões</a:t>
            </a:r>
            <a:endParaRPr i="0" sz="8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5" name="Google Shape;175;p19"/>
          <p:cNvSpPr/>
          <p:nvPr/>
        </p:nvSpPr>
        <p:spPr>
          <a:xfrm>
            <a:off x="6916975" y="2306376"/>
            <a:ext cx="756900" cy="338700"/>
          </a:xfrm>
          <a:prstGeom prst="roundRect">
            <a:avLst>
              <a:gd fmla="val 24140" name="adj"/>
            </a:avLst>
          </a:prstGeom>
          <a:solidFill>
            <a:srgbClr val="EAC7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pt-BR" sz="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R$ 0,73</a:t>
            </a:r>
            <a:endParaRPr sz="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6" name="Google Shape;176;p19"/>
          <p:cNvSpPr/>
          <p:nvPr/>
        </p:nvSpPr>
        <p:spPr>
          <a:xfrm>
            <a:off x="5627725" y="2839392"/>
            <a:ext cx="1277400" cy="523200"/>
          </a:xfrm>
          <a:prstGeom prst="roundRect">
            <a:avLst>
              <a:gd fmla="val 0" name="adj"/>
            </a:avLst>
          </a:prstGeom>
          <a:noFill/>
          <a:ln cap="flat" cmpd="sng" w="9525">
            <a:solidFill>
              <a:srgbClr val="E528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271 </a:t>
            </a:r>
            <a:r>
              <a:rPr i="0" lang="pt-BR" sz="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| Pedidos</a:t>
            </a:r>
            <a:endParaRPr i="0" sz="8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7" name="Google Shape;177;p19"/>
          <p:cNvSpPr/>
          <p:nvPr/>
        </p:nvSpPr>
        <p:spPr>
          <a:xfrm>
            <a:off x="6704700" y="3004154"/>
            <a:ext cx="1042200" cy="338700"/>
          </a:xfrm>
          <a:prstGeom prst="roundRect">
            <a:avLst>
              <a:gd fmla="val 30001" name="adj"/>
            </a:avLst>
          </a:prstGeom>
          <a:solidFill>
            <a:srgbClr val="439C1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pt-BR" sz="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R$ 1.115.147,76</a:t>
            </a:r>
            <a:endParaRPr i="0" sz="6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8" name="Google Shape;178;p19"/>
          <p:cNvSpPr/>
          <p:nvPr/>
        </p:nvSpPr>
        <p:spPr>
          <a:xfrm>
            <a:off x="6680575" y="2867664"/>
            <a:ext cx="706800" cy="197700"/>
          </a:xfrm>
          <a:prstGeom prst="roundRect">
            <a:avLst>
              <a:gd fmla="val 27093" name="adj"/>
            </a:avLst>
          </a:prstGeom>
          <a:solidFill>
            <a:srgbClr val="EAC7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pt-BR" sz="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R$ 129,39</a:t>
            </a:r>
            <a:endParaRPr i="0" sz="5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9" name="Google Shape;179;p19"/>
          <p:cNvSpPr txBox="1"/>
          <p:nvPr/>
        </p:nvSpPr>
        <p:spPr>
          <a:xfrm>
            <a:off x="1510500" y="838234"/>
            <a:ext cx="6123000" cy="39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E52832"/>
                </a:solidFill>
                <a:latin typeface="Montserrat"/>
                <a:ea typeface="Montserrat"/>
                <a:cs typeface="Montserrat"/>
                <a:sym typeface="Montserrat"/>
              </a:rPr>
              <a:t>Indicadores Gerais</a:t>
            </a:r>
            <a:endParaRPr>
              <a:solidFill>
                <a:srgbClr val="E5283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0" name="Google Shape;180;p19"/>
          <p:cNvSpPr txBox="1"/>
          <p:nvPr/>
        </p:nvSpPr>
        <p:spPr>
          <a:xfrm>
            <a:off x="8393925" y="4715316"/>
            <a:ext cx="74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7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LOGO DA UNIDADE</a:t>
            </a:r>
            <a:endParaRPr b="1" sz="700">
              <a:solidFill>
                <a:srgbClr val="FFFFF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0"/>
          <p:cNvSpPr txBox="1"/>
          <p:nvPr/>
        </p:nvSpPr>
        <p:spPr>
          <a:xfrm>
            <a:off x="1510500" y="482150"/>
            <a:ext cx="6123000" cy="39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Visão atual | Setembro</a:t>
            </a:r>
            <a:endParaRPr b="1" sz="24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6" name="Google Shape;186;p20"/>
          <p:cNvSpPr txBox="1"/>
          <p:nvPr/>
        </p:nvSpPr>
        <p:spPr>
          <a:xfrm>
            <a:off x="1510500" y="802550"/>
            <a:ext cx="6123000" cy="39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ED1B18"/>
                </a:solidFill>
                <a:latin typeface="Montserrat"/>
                <a:ea typeface="Montserrat"/>
                <a:cs typeface="Montserrat"/>
                <a:sym typeface="Montserrat"/>
              </a:rPr>
              <a:t>Indicadores Gerais</a:t>
            </a:r>
            <a:endParaRPr sz="1600">
              <a:solidFill>
                <a:srgbClr val="ED1B1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7" name="Google Shape;187;p20"/>
          <p:cNvSpPr/>
          <p:nvPr/>
        </p:nvSpPr>
        <p:spPr>
          <a:xfrm>
            <a:off x="7541979" y="3771968"/>
            <a:ext cx="647400" cy="508500"/>
          </a:xfrm>
          <a:prstGeom prst="roundRect">
            <a:avLst>
              <a:gd fmla="val 0" name="adj"/>
            </a:avLst>
          </a:prstGeom>
          <a:solidFill>
            <a:srgbClr val="38761D">
              <a:alpha val="403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i="0" sz="1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8" name="Google Shape;188;p20"/>
          <p:cNvSpPr/>
          <p:nvPr/>
        </p:nvSpPr>
        <p:spPr>
          <a:xfrm>
            <a:off x="1626706" y="1571149"/>
            <a:ext cx="6572100" cy="424500"/>
          </a:xfrm>
          <a:prstGeom prst="roundRect">
            <a:avLst>
              <a:gd fmla="val 0" name="adj"/>
            </a:avLst>
          </a:prstGeom>
          <a:solidFill>
            <a:srgbClr val="38761D">
              <a:alpha val="487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i="0" sz="1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9" name="Google Shape;189;p20"/>
          <p:cNvSpPr txBox="1"/>
          <p:nvPr/>
        </p:nvSpPr>
        <p:spPr>
          <a:xfrm>
            <a:off x="3641034" y="1559002"/>
            <a:ext cx="867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0" lang="pt-BR" sz="600" u="none" cap="none" strike="noStrike">
                <a:solidFill>
                  <a:srgbClr val="F4F4F4"/>
                </a:solidFill>
                <a:latin typeface="Montserrat"/>
                <a:ea typeface="Montserrat"/>
                <a:cs typeface="Montserrat"/>
                <a:sym typeface="Montserrat"/>
              </a:rPr>
              <a:t>Compras </a:t>
            </a:r>
            <a:endParaRPr i="0" sz="600" u="none" cap="none" strike="noStrike">
              <a:solidFill>
                <a:srgbClr val="F4F4F4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100">
                <a:solidFill>
                  <a:srgbClr val="F4F4F4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146</a:t>
            </a:r>
            <a:endParaRPr i="0" sz="1100" u="none" cap="none" strike="noStrike">
              <a:solidFill>
                <a:srgbClr val="F4F4F4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0" lang="pt-BR" sz="300" u="none" cap="none" strike="noStrike">
                <a:solidFill>
                  <a:srgbClr val="66666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-</a:t>
            </a:r>
            <a:endParaRPr i="0" sz="1300" u="none" cap="none" strike="noStrike">
              <a:solidFill>
                <a:srgbClr val="F4F4F4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90" name="Google Shape;190;p20"/>
          <p:cNvSpPr/>
          <p:nvPr/>
        </p:nvSpPr>
        <p:spPr>
          <a:xfrm>
            <a:off x="1626706" y="2105277"/>
            <a:ext cx="6572100" cy="424500"/>
          </a:xfrm>
          <a:prstGeom prst="roundRect">
            <a:avLst>
              <a:gd fmla="val 0" name="adj"/>
            </a:avLst>
          </a:prstGeom>
          <a:solidFill>
            <a:srgbClr val="38761D">
              <a:alpha val="487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i="0" sz="1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91" name="Google Shape;191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0660" y="2174833"/>
            <a:ext cx="267520" cy="26752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0"/>
          <p:cNvSpPr/>
          <p:nvPr/>
        </p:nvSpPr>
        <p:spPr>
          <a:xfrm>
            <a:off x="1569468" y="3772012"/>
            <a:ext cx="5972400" cy="508500"/>
          </a:xfrm>
          <a:prstGeom prst="roundRect">
            <a:avLst>
              <a:gd fmla="val 0" name="adj"/>
            </a:avLst>
          </a:prstGeom>
          <a:solidFill>
            <a:srgbClr val="E52832">
              <a:alpha val="87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i="0" sz="1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3" name="Google Shape;193;p20"/>
          <p:cNvSpPr/>
          <p:nvPr/>
        </p:nvSpPr>
        <p:spPr>
          <a:xfrm>
            <a:off x="1503566" y="3772012"/>
            <a:ext cx="1604700" cy="508500"/>
          </a:xfrm>
          <a:prstGeom prst="roundRect">
            <a:avLst>
              <a:gd fmla="val 0" name="adj"/>
            </a:avLst>
          </a:prstGeom>
          <a:solidFill>
            <a:srgbClr val="D5D5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i="0" sz="1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4" name="Google Shape;194;p20"/>
          <p:cNvSpPr txBox="1"/>
          <p:nvPr/>
        </p:nvSpPr>
        <p:spPr>
          <a:xfrm>
            <a:off x="1650376" y="3765125"/>
            <a:ext cx="1380300" cy="4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pt-BR" sz="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Valor Investido</a:t>
            </a:r>
            <a:endParaRPr b="1" i="0" sz="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300">
                <a:latin typeface="Montserrat SemiBold"/>
                <a:ea typeface="Montserrat SemiBold"/>
                <a:cs typeface="Montserrat SemiBold"/>
                <a:sym typeface="Montserrat SemiBold"/>
              </a:rPr>
              <a:t>R$ 35.063,85</a:t>
            </a:r>
            <a:endParaRPr i="0" sz="1300" u="none" cap="none" strike="noStrike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95" name="Google Shape;195;p20"/>
          <p:cNvSpPr txBox="1"/>
          <p:nvPr/>
        </p:nvSpPr>
        <p:spPr>
          <a:xfrm>
            <a:off x="3185959" y="3770758"/>
            <a:ext cx="1101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pt-BR" sz="600" u="none" cap="none" strike="noStrike">
                <a:solidFill>
                  <a:srgbClr val="F4F4F4"/>
                </a:solidFill>
                <a:latin typeface="Montserrat"/>
                <a:ea typeface="Montserrat"/>
                <a:cs typeface="Montserrat"/>
                <a:sym typeface="Montserrat"/>
              </a:rPr>
              <a:t>Pedidos: </a:t>
            </a:r>
            <a:r>
              <a:rPr b="1" lang="pt-BR" sz="600">
                <a:solidFill>
                  <a:srgbClr val="F4F4F4"/>
                </a:solidFill>
                <a:latin typeface="Montserrat"/>
                <a:ea typeface="Montserrat"/>
                <a:cs typeface="Montserrat"/>
                <a:sym typeface="Montserrat"/>
              </a:rPr>
              <a:t>271</a:t>
            </a:r>
            <a:endParaRPr i="0" sz="2000" u="none" cap="none" strike="noStrike">
              <a:solidFill>
                <a:srgbClr val="F4F4F4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96" name="Google Shape;196;p20"/>
          <p:cNvSpPr txBox="1"/>
          <p:nvPr/>
        </p:nvSpPr>
        <p:spPr>
          <a:xfrm>
            <a:off x="3321204" y="3907037"/>
            <a:ext cx="1191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00">
                <a:solidFill>
                  <a:srgbClr val="F4F4F4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R$ 129,39</a:t>
            </a:r>
            <a:endParaRPr i="0" sz="1100" u="none" cap="none" strike="noStrike">
              <a:solidFill>
                <a:srgbClr val="F4F4F4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97" name="Google Shape;197;p20"/>
          <p:cNvSpPr/>
          <p:nvPr/>
        </p:nvSpPr>
        <p:spPr>
          <a:xfrm>
            <a:off x="1512741" y="2104345"/>
            <a:ext cx="1943700" cy="426300"/>
          </a:xfrm>
          <a:prstGeom prst="roundRect">
            <a:avLst>
              <a:gd fmla="val 0" name="adj"/>
            </a:avLst>
          </a:prstGeom>
          <a:solidFill>
            <a:srgbClr val="950A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i="0" sz="1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8" name="Google Shape;198;p20"/>
          <p:cNvSpPr/>
          <p:nvPr/>
        </p:nvSpPr>
        <p:spPr>
          <a:xfrm>
            <a:off x="1512741" y="1571692"/>
            <a:ext cx="1943700" cy="426300"/>
          </a:xfrm>
          <a:prstGeom prst="roundRect">
            <a:avLst>
              <a:gd fmla="val 0" name="adj"/>
            </a:avLst>
          </a:prstGeom>
          <a:solidFill>
            <a:srgbClr val="950A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i="0" sz="1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9" name="Google Shape;199;p20"/>
          <p:cNvSpPr txBox="1"/>
          <p:nvPr/>
        </p:nvSpPr>
        <p:spPr>
          <a:xfrm>
            <a:off x="3641034" y="2096380"/>
            <a:ext cx="8676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i="0" lang="pt-BR" sz="600" u="none" cap="none" strike="noStrike">
                <a:solidFill>
                  <a:srgbClr val="F4F4F4"/>
                </a:solidFill>
                <a:latin typeface="Montserrat"/>
                <a:ea typeface="Montserrat"/>
                <a:cs typeface="Montserrat"/>
                <a:sym typeface="Montserrat"/>
              </a:rPr>
              <a:t>Compras</a:t>
            </a:r>
            <a:endParaRPr i="0" sz="600" u="none" cap="none" strike="noStrike">
              <a:solidFill>
                <a:srgbClr val="F4F4F4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100">
                <a:solidFill>
                  <a:srgbClr val="F4F4F4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98</a:t>
            </a:r>
            <a:endParaRPr i="0" sz="1300" u="none" cap="none" strike="noStrike">
              <a:solidFill>
                <a:srgbClr val="F4F4F4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00" name="Google Shape;200;p20"/>
          <p:cNvSpPr txBox="1"/>
          <p:nvPr/>
        </p:nvSpPr>
        <p:spPr>
          <a:xfrm>
            <a:off x="4497074" y="1559000"/>
            <a:ext cx="9453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0" lang="pt-BR" sz="600" u="none" cap="none" strike="noStrike">
                <a:solidFill>
                  <a:srgbClr val="F4F4F4"/>
                </a:solidFill>
                <a:latin typeface="Montserrat"/>
                <a:ea typeface="Montserrat"/>
                <a:cs typeface="Montserrat"/>
                <a:sym typeface="Montserrat"/>
              </a:rPr>
              <a:t>CPA Compra</a:t>
            </a:r>
            <a:endParaRPr i="0" sz="600" u="none" cap="none" strike="noStrike">
              <a:solidFill>
                <a:srgbClr val="F4F4F4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100">
                <a:solidFill>
                  <a:srgbClr val="F4F4F4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R$ 152,79</a:t>
            </a:r>
            <a:endParaRPr i="0" sz="1300" u="none" cap="none" strike="noStrike">
              <a:solidFill>
                <a:srgbClr val="F4F4F4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01" name="Google Shape;201;p20"/>
          <p:cNvSpPr txBox="1"/>
          <p:nvPr/>
        </p:nvSpPr>
        <p:spPr>
          <a:xfrm>
            <a:off x="4497074" y="2094545"/>
            <a:ext cx="9453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i="0" lang="pt-BR" sz="600" u="none" cap="none" strike="noStrike">
                <a:solidFill>
                  <a:srgbClr val="F4F4F4"/>
                </a:solidFill>
                <a:latin typeface="Montserrat"/>
                <a:ea typeface="Montserrat"/>
                <a:cs typeface="Montserrat"/>
                <a:sym typeface="Montserrat"/>
              </a:rPr>
              <a:t>CPA Compra</a:t>
            </a:r>
            <a:endParaRPr i="0" sz="600" u="none" cap="none" strike="noStrike">
              <a:solidFill>
                <a:srgbClr val="F4F4F4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100">
                <a:solidFill>
                  <a:srgbClr val="F4F4F4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R$ 129,61</a:t>
            </a:r>
            <a:endParaRPr i="0" sz="1300" u="none" cap="none" strike="noStrike">
              <a:solidFill>
                <a:srgbClr val="F4F4F4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02" name="Google Shape;202;p20"/>
          <p:cNvSpPr txBox="1"/>
          <p:nvPr/>
        </p:nvSpPr>
        <p:spPr>
          <a:xfrm>
            <a:off x="1708319" y="1553775"/>
            <a:ext cx="1666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0" lang="pt-BR" sz="5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Valor Investido</a:t>
            </a:r>
            <a:endParaRPr i="0" sz="5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1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R$ 22.306,67</a:t>
            </a:r>
            <a:endParaRPr i="0" sz="1100" u="none" cap="none" strike="noStrike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03" name="Google Shape;203;p20"/>
          <p:cNvSpPr txBox="1"/>
          <p:nvPr/>
        </p:nvSpPr>
        <p:spPr>
          <a:xfrm>
            <a:off x="1708319" y="2082667"/>
            <a:ext cx="1666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0" lang="pt-BR" sz="5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Valor Investido</a:t>
            </a:r>
            <a:endParaRPr i="0" sz="5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1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R$ 12.757,18</a:t>
            </a:r>
            <a:endParaRPr i="0" sz="1100" u="none" cap="none" strike="noStrike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04" name="Google Shape;204;p20"/>
          <p:cNvSpPr txBox="1"/>
          <p:nvPr/>
        </p:nvSpPr>
        <p:spPr>
          <a:xfrm>
            <a:off x="5602774" y="1565651"/>
            <a:ext cx="6243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0" lang="pt-BR" sz="600" u="none" cap="none" strike="noStrike">
                <a:solidFill>
                  <a:srgbClr val="F4F4F4"/>
                </a:solidFill>
                <a:latin typeface="Montserrat"/>
                <a:ea typeface="Montserrat"/>
                <a:cs typeface="Montserrat"/>
                <a:sym typeface="Montserrat"/>
              </a:rPr>
              <a:t>ROAS</a:t>
            </a:r>
            <a:endParaRPr i="0" sz="600" u="none" cap="none" strike="noStrike">
              <a:solidFill>
                <a:srgbClr val="F4F4F4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100">
                <a:solidFill>
                  <a:srgbClr val="F4F4F4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28,54</a:t>
            </a:r>
            <a:endParaRPr i="0" sz="1300" u="none" cap="none" strike="noStrike">
              <a:solidFill>
                <a:srgbClr val="F4F4F4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05" name="Google Shape;205;p20"/>
          <p:cNvSpPr txBox="1"/>
          <p:nvPr/>
        </p:nvSpPr>
        <p:spPr>
          <a:xfrm>
            <a:off x="5602774" y="2094543"/>
            <a:ext cx="6243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0" lang="pt-BR" sz="600" u="none" cap="none" strike="noStrike">
                <a:solidFill>
                  <a:srgbClr val="F4F4F4"/>
                </a:solidFill>
                <a:latin typeface="Montserrat"/>
                <a:ea typeface="Montserrat"/>
                <a:cs typeface="Montserrat"/>
                <a:sym typeface="Montserrat"/>
              </a:rPr>
              <a:t>ROAS</a:t>
            </a:r>
            <a:endParaRPr i="0" sz="600" u="none" cap="none" strike="noStrike">
              <a:solidFill>
                <a:srgbClr val="F4F4F4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100">
                <a:solidFill>
                  <a:srgbClr val="F4F4F4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38,95</a:t>
            </a:r>
            <a:endParaRPr i="0" sz="1300" u="none" cap="none" strike="noStrike">
              <a:solidFill>
                <a:srgbClr val="F4F4F4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06" name="Google Shape;206;p20"/>
          <p:cNvSpPr/>
          <p:nvPr/>
        </p:nvSpPr>
        <p:spPr>
          <a:xfrm>
            <a:off x="6190926" y="1569325"/>
            <a:ext cx="1997400" cy="428100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i="0" sz="1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7" name="Google Shape;207;p20"/>
          <p:cNvSpPr/>
          <p:nvPr/>
        </p:nvSpPr>
        <p:spPr>
          <a:xfrm>
            <a:off x="6190926" y="2111781"/>
            <a:ext cx="1997400" cy="414600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i="0" sz="1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8" name="Google Shape;208;p20"/>
          <p:cNvSpPr txBox="1"/>
          <p:nvPr/>
        </p:nvSpPr>
        <p:spPr>
          <a:xfrm>
            <a:off x="6272525" y="2074467"/>
            <a:ext cx="1554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0" lang="pt-BR" sz="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Valor capturado</a:t>
            </a:r>
            <a:endParaRPr i="0" sz="6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200">
                <a:latin typeface="Montserrat SemiBold"/>
                <a:ea typeface="Montserrat SemiBold"/>
                <a:cs typeface="Montserrat SemiBold"/>
                <a:sym typeface="Montserrat SemiBold"/>
              </a:rPr>
              <a:t>R$ 496.839,67</a:t>
            </a:r>
            <a:endParaRPr i="0" sz="1200" u="none" cap="none" strike="noStrike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09" name="Google Shape;209;p20"/>
          <p:cNvSpPr txBox="1"/>
          <p:nvPr/>
        </p:nvSpPr>
        <p:spPr>
          <a:xfrm>
            <a:off x="6272525" y="1545575"/>
            <a:ext cx="1554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0" lang="pt-BR" sz="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Valor capturado</a:t>
            </a:r>
            <a:endParaRPr i="0" sz="6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200">
                <a:latin typeface="Montserrat SemiBold"/>
                <a:ea typeface="Montserrat SemiBold"/>
                <a:cs typeface="Montserrat SemiBold"/>
                <a:sym typeface="Montserrat SemiBold"/>
              </a:rPr>
              <a:t>R$ 636.649,40</a:t>
            </a:r>
            <a:endParaRPr i="0" sz="1200" u="none" cap="none" strike="noStrike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10" name="Google Shape;210;p20"/>
          <p:cNvSpPr txBox="1"/>
          <p:nvPr/>
        </p:nvSpPr>
        <p:spPr>
          <a:xfrm>
            <a:off x="1480890" y="1296137"/>
            <a:ext cx="397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pt-BR" sz="800" u="none" cap="none" strike="noStrike">
                <a:solidFill>
                  <a:srgbClr val="F4F4F4"/>
                </a:solidFill>
                <a:latin typeface="Montserrat"/>
                <a:ea typeface="Montserrat"/>
                <a:cs typeface="Montserrat"/>
                <a:sym typeface="Montserrat"/>
              </a:rPr>
              <a:t>Dados dos gerenciadores de anúncios</a:t>
            </a:r>
            <a:endParaRPr b="1" i="0" sz="2200" u="none" cap="none" strike="noStrike">
              <a:solidFill>
                <a:srgbClr val="F4F4F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1" name="Google Shape;211;p20"/>
          <p:cNvSpPr txBox="1"/>
          <p:nvPr/>
        </p:nvSpPr>
        <p:spPr>
          <a:xfrm>
            <a:off x="3185405" y="3993505"/>
            <a:ext cx="398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pt-BR" sz="300" u="none" cap="none" strike="noStrike">
                <a:solidFill>
                  <a:srgbClr val="F4F4F4"/>
                </a:solidFill>
                <a:latin typeface="Montserrat"/>
                <a:ea typeface="Montserrat"/>
                <a:cs typeface="Montserrat"/>
                <a:sym typeface="Montserrat"/>
              </a:rPr>
              <a:t>CPA</a:t>
            </a:r>
            <a:endParaRPr i="0" sz="9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12" name="Google Shape;212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45125" y="3784372"/>
            <a:ext cx="441408" cy="441433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0"/>
          <p:cNvSpPr txBox="1"/>
          <p:nvPr/>
        </p:nvSpPr>
        <p:spPr>
          <a:xfrm>
            <a:off x="7523423" y="3792089"/>
            <a:ext cx="6753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pt-BR">
                <a:solidFill>
                  <a:srgbClr val="6CE86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31,30</a:t>
            </a:r>
            <a:endParaRPr i="0" u="none" cap="none" strike="noStrike">
              <a:solidFill>
                <a:srgbClr val="6CE86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i="0" lang="pt-BR" sz="500" u="none" cap="none" strike="noStrike">
                <a:solidFill>
                  <a:srgbClr val="6CE860"/>
                </a:solidFill>
                <a:latin typeface="Montserrat"/>
                <a:ea typeface="Montserrat"/>
                <a:cs typeface="Montserrat"/>
                <a:sym typeface="Montserrat"/>
              </a:rPr>
              <a:t>ROAS</a:t>
            </a:r>
            <a:endParaRPr i="0" u="none" cap="none" strike="noStrike">
              <a:solidFill>
                <a:srgbClr val="6CE86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14" name="Google Shape;214;p20"/>
          <p:cNvSpPr txBox="1"/>
          <p:nvPr/>
        </p:nvSpPr>
        <p:spPr>
          <a:xfrm>
            <a:off x="4510521" y="3770758"/>
            <a:ext cx="1135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pt-BR" sz="600" u="none" cap="none" strike="noStrike">
                <a:solidFill>
                  <a:srgbClr val="F4F4F4"/>
                </a:solidFill>
                <a:latin typeface="Montserrat"/>
                <a:ea typeface="Montserrat"/>
                <a:cs typeface="Montserrat"/>
                <a:sym typeface="Montserrat"/>
              </a:rPr>
              <a:t>Vendas: </a:t>
            </a:r>
            <a:r>
              <a:rPr b="1" lang="pt-BR" sz="600">
                <a:solidFill>
                  <a:srgbClr val="F4F4F4"/>
                </a:solidFill>
                <a:latin typeface="Montserrat"/>
                <a:ea typeface="Montserrat"/>
                <a:cs typeface="Montserrat"/>
                <a:sym typeface="Montserrat"/>
              </a:rPr>
              <a:t>267</a:t>
            </a:r>
            <a:endParaRPr i="0" sz="2000" u="none" cap="none" strike="noStrike">
              <a:solidFill>
                <a:srgbClr val="F4F4F4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15" name="Google Shape;215;p20"/>
          <p:cNvSpPr txBox="1"/>
          <p:nvPr/>
        </p:nvSpPr>
        <p:spPr>
          <a:xfrm>
            <a:off x="4612026" y="3907050"/>
            <a:ext cx="1101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00">
                <a:solidFill>
                  <a:srgbClr val="F4F4F4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R$ 131,33</a:t>
            </a:r>
            <a:endParaRPr i="0" sz="1100" u="none" cap="none" strike="noStrike">
              <a:solidFill>
                <a:srgbClr val="F4F4F4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16" name="Google Shape;216;p20"/>
          <p:cNvSpPr txBox="1"/>
          <p:nvPr/>
        </p:nvSpPr>
        <p:spPr>
          <a:xfrm>
            <a:off x="4443718" y="3993500"/>
            <a:ext cx="647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pt-BR" sz="300" u="none" cap="none" strike="noStrike">
                <a:solidFill>
                  <a:srgbClr val="F4F4F4"/>
                </a:solidFill>
                <a:latin typeface="Montserrat"/>
                <a:ea typeface="Montserrat"/>
                <a:cs typeface="Montserrat"/>
                <a:sym typeface="Montserrat"/>
              </a:rPr>
              <a:t>CPV</a:t>
            </a:r>
            <a:endParaRPr i="0" sz="9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7" name="Google Shape;217;p20"/>
          <p:cNvSpPr/>
          <p:nvPr/>
        </p:nvSpPr>
        <p:spPr>
          <a:xfrm>
            <a:off x="1626777" y="2652449"/>
            <a:ext cx="6572100" cy="424500"/>
          </a:xfrm>
          <a:prstGeom prst="roundRect">
            <a:avLst>
              <a:gd fmla="val 0" name="adj"/>
            </a:avLst>
          </a:prstGeom>
          <a:solidFill>
            <a:srgbClr val="38761D">
              <a:alpha val="487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i="0" sz="1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8" name="Google Shape;218;p20"/>
          <p:cNvSpPr/>
          <p:nvPr/>
        </p:nvSpPr>
        <p:spPr>
          <a:xfrm>
            <a:off x="1512812" y="2651517"/>
            <a:ext cx="1943700" cy="426300"/>
          </a:xfrm>
          <a:prstGeom prst="roundRect">
            <a:avLst>
              <a:gd fmla="val 0" name="adj"/>
            </a:avLst>
          </a:prstGeom>
          <a:solidFill>
            <a:srgbClr val="950A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i="0" sz="1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9" name="Google Shape;219;p20"/>
          <p:cNvSpPr txBox="1"/>
          <p:nvPr/>
        </p:nvSpPr>
        <p:spPr>
          <a:xfrm>
            <a:off x="3641105" y="2643551"/>
            <a:ext cx="8676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i="0" lang="pt-BR" sz="600" u="none" cap="none" strike="noStrike">
                <a:solidFill>
                  <a:srgbClr val="F4F4F4"/>
                </a:solidFill>
                <a:latin typeface="Montserrat"/>
                <a:ea typeface="Montserrat"/>
                <a:cs typeface="Montserrat"/>
                <a:sym typeface="Montserrat"/>
              </a:rPr>
              <a:t>Compras</a:t>
            </a:r>
            <a:endParaRPr i="0" sz="600" u="none" cap="none" strike="noStrike">
              <a:solidFill>
                <a:srgbClr val="F4F4F4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100">
                <a:solidFill>
                  <a:srgbClr val="F4F4F4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78</a:t>
            </a:r>
            <a:endParaRPr i="0" sz="1300" u="none" cap="none" strike="noStrike">
              <a:solidFill>
                <a:srgbClr val="F4F4F4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20" name="Google Shape;220;p20"/>
          <p:cNvSpPr txBox="1"/>
          <p:nvPr/>
        </p:nvSpPr>
        <p:spPr>
          <a:xfrm>
            <a:off x="1708365" y="2588313"/>
            <a:ext cx="1666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i="0" lang="pt-BR" sz="1100" u="none" cap="none" strike="noStrik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ORGÂNICO</a:t>
            </a:r>
            <a:endParaRPr i="0" sz="1100" u="none" cap="none" strike="noStrike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21" name="Google Shape;221;p20"/>
          <p:cNvSpPr/>
          <p:nvPr/>
        </p:nvSpPr>
        <p:spPr>
          <a:xfrm>
            <a:off x="6191854" y="2658932"/>
            <a:ext cx="1997400" cy="414600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i="0" sz="1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2" name="Google Shape;222;p20"/>
          <p:cNvSpPr txBox="1"/>
          <p:nvPr/>
        </p:nvSpPr>
        <p:spPr>
          <a:xfrm>
            <a:off x="6271968" y="2621634"/>
            <a:ext cx="1821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0" lang="pt-BR" sz="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Valor capturado</a:t>
            </a:r>
            <a:endParaRPr i="0" sz="6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200">
                <a:latin typeface="Montserrat SemiBold"/>
                <a:ea typeface="Montserrat SemiBold"/>
                <a:cs typeface="Montserrat SemiBold"/>
                <a:sym typeface="Montserrat SemiBold"/>
              </a:rPr>
              <a:t>R$ 264.558,64</a:t>
            </a:r>
            <a:endParaRPr i="0" sz="1200" u="none" cap="none" strike="noStrike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23" name="Google Shape;223;p20"/>
          <p:cNvSpPr/>
          <p:nvPr/>
        </p:nvSpPr>
        <p:spPr>
          <a:xfrm>
            <a:off x="1617543" y="3209259"/>
            <a:ext cx="6572100" cy="424500"/>
          </a:xfrm>
          <a:prstGeom prst="roundRect">
            <a:avLst>
              <a:gd fmla="val 0" name="adj"/>
            </a:avLst>
          </a:prstGeom>
          <a:solidFill>
            <a:srgbClr val="38761D">
              <a:alpha val="487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i="0" sz="1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4" name="Google Shape;224;p20"/>
          <p:cNvSpPr/>
          <p:nvPr/>
        </p:nvSpPr>
        <p:spPr>
          <a:xfrm>
            <a:off x="1503578" y="3208327"/>
            <a:ext cx="1943700" cy="426300"/>
          </a:xfrm>
          <a:prstGeom prst="roundRect">
            <a:avLst>
              <a:gd fmla="val 0" name="adj"/>
            </a:avLst>
          </a:prstGeom>
          <a:solidFill>
            <a:srgbClr val="950A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i="0" sz="1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5" name="Google Shape;225;p20"/>
          <p:cNvSpPr txBox="1"/>
          <p:nvPr/>
        </p:nvSpPr>
        <p:spPr>
          <a:xfrm>
            <a:off x="3631871" y="3200361"/>
            <a:ext cx="8676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i="0" lang="pt-BR" sz="600" u="none" cap="none" strike="noStrike">
                <a:solidFill>
                  <a:srgbClr val="F4F4F4"/>
                </a:solidFill>
                <a:latin typeface="Montserrat"/>
                <a:ea typeface="Montserrat"/>
                <a:cs typeface="Montserrat"/>
                <a:sym typeface="Montserrat"/>
              </a:rPr>
              <a:t>Compras</a:t>
            </a:r>
            <a:endParaRPr i="0" sz="600" u="none" cap="none" strike="noStrike">
              <a:solidFill>
                <a:srgbClr val="F4F4F4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100">
                <a:solidFill>
                  <a:srgbClr val="F4F4F4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5</a:t>
            </a:r>
            <a:endParaRPr i="0" sz="1300" u="none" cap="none" strike="noStrike">
              <a:solidFill>
                <a:srgbClr val="F4F4F4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26" name="Google Shape;226;p20"/>
          <p:cNvSpPr txBox="1"/>
          <p:nvPr/>
        </p:nvSpPr>
        <p:spPr>
          <a:xfrm>
            <a:off x="1674646" y="3243284"/>
            <a:ext cx="1666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i="0" lang="pt-BR" sz="1100" u="none" cap="none" strike="noStrik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CRM</a:t>
            </a:r>
            <a:endParaRPr i="0" sz="1100" u="none" cap="none" strike="noStrike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27" name="Google Shape;227;p20"/>
          <p:cNvSpPr/>
          <p:nvPr/>
        </p:nvSpPr>
        <p:spPr>
          <a:xfrm>
            <a:off x="6181763" y="3202179"/>
            <a:ext cx="1997400" cy="428100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i="0" sz="1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8" name="Google Shape;228;p20"/>
          <p:cNvSpPr txBox="1"/>
          <p:nvPr/>
        </p:nvSpPr>
        <p:spPr>
          <a:xfrm>
            <a:off x="6263360" y="3178449"/>
            <a:ext cx="1554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0" lang="pt-BR" sz="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Valor capturado</a:t>
            </a:r>
            <a:endParaRPr i="0" sz="6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200">
                <a:latin typeface="Montserrat SemiBold"/>
                <a:ea typeface="Montserrat SemiBold"/>
                <a:cs typeface="Montserrat SemiBold"/>
                <a:sym typeface="Montserrat SemiBold"/>
              </a:rPr>
              <a:t>R$ 18.280,92</a:t>
            </a:r>
            <a:endParaRPr i="0" sz="1200" u="none" cap="none" strike="noStrike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29" name="Google Shape;229;p20"/>
          <p:cNvSpPr txBox="1"/>
          <p:nvPr/>
        </p:nvSpPr>
        <p:spPr>
          <a:xfrm>
            <a:off x="5656648" y="3760930"/>
            <a:ext cx="183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pt-BR" sz="500" u="none" cap="none" strike="noStrike">
                <a:solidFill>
                  <a:srgbClr val="F4F4F4"/>
                </a:solidFill>
                <a:latin typeface="Montserrat"/>
                <a:ea typeface="Montserrat"/>
                <a:cs typeface="Montserrat"/>
                <a:sym typeface="Montserrat"/>
              </a:rPr>
              <a:t>Valor Faturado [GERAL]</a:t>
            </a:r>
            <a:endParaRPr b="1" i="0" sz="500" u="none" cap="none" strike="noStrike">
              <a:solidFill>
                <a:srgbClr val="F4F4F4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i="0" lang="pt-BR" sz="500" u="none" cap="none" strike="noStrike">
                <a:solidFill>
                  <a:srgbClr val="96DC03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R$</a:t>
            </a:r>
            <a:r>
              <a:rPr i="0" lang="pt-BR" sz="1500" u="none" cap="none" strike="noStrike">
                <a:solidFill>
                  <a:srgbClr val="96DC03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pt-BR" sz="1500">
                <a:solidFill>
                  <a:srgbClr val="96DC03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1.097.378,98</a:t>
            </a:r>
            <a:endParaRPr i="0" sz="1500" u="none" cap="none" strike="noStrike">
              <a:solidFill>
                <a:srgbClr val="96DC03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230" name="Google Shape;230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21859" y="2696343"/>
            <a:ext cx="306348" cy="3063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21855" y="1641365"/>
            <a:ext cx="306327" cy="30634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985825" y="3184850"/>
            <a:ext cx="398400" cy="456206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0"/>
          <p:cNvSpPr txBox="1"/>
          <p:nvPr/>
        </p:nvSpPr>
        <p:spPr>
          <a:xfrm>
            <a:off x="8393925" y="4715316"/>
            <a:ext cx="74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7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LOGO DA UNIDADE</a:t>
            </a:r>
            <a:endParaRPr b="1" sz="700">
              <a:solidFill>
                <a:srgbClr val="FFFFF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1"/>
          <p:cNvSpPr txBox="1"/>
          <p:nvPr/>
        </p:nvSpPr>
        <p:spPr>
          <a:xfrm>
            <a:off x="572613" y="454075"/>
            <a:ext cx="6123000" cy="39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Visão atual | Setembro</a:t>
            </a:r>
            <a:endParaRPr b="1" sz="24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9" name="Google Shape;239;p21"/>
          <p:cNvSpPr txBox="1"/>
          <p:nvPr/>
        </p:nvSpPr>
        <p:spPr>
          <a:xfrm>
            <a:off x="572613" y="774475"/>
            <a:ext cx="6123000" cy="39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E52832"/>
                </a:solidFill>
                <a:latin typeface="Montserrat"/>
                <a:ea typeface="Montserrat"/>
                <a:cs typeface="Montserrat"/>
                <a:sym typeface="Montserrat"/>
              </a:rPr>
              <a:t>Meta</a:t>
            </a:r>
            <a:endParaRPr sz="1600">
              <a:solidFill>
                <a:srgbClr val="E5283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40" name="Google Shape;240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55513" y="335688"/>
            <a:ext cx="679124" cy="679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1" title="Gráfico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40132" y="2146610"/>
            <a:ext cx="3522069" cy="229241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1" title="Gráfico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8950" y="2122688"/>
            <a:ext cx="3522069" cy="2292426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1"/>
          <p:cNvSpPr/>
          <p:nvPr/>
        </p:nvSpPr>
        <p:spPr>
          <a:xfrm>
            <a:off x="3232042" y="1227230"/>
            <a:ext cx="1549500" cy="68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600" lIns="95225" spcFirstLastPara="1" rIns="95225" wrap="square" tIns="4760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pt-BR" sz="2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1,93%</a:t>
            </a:r>
            <a:endParaRPr b="1" i="0" sz="22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4" name="Google Shape;244;p21"/>
          <p:cNvSpPr txBox="1"/>
          <p:nvPr/>
        </p:nvSpPr>
        <p:spPr>
          <a:xfrm>
            <a:off x="3297004" y="1737572"/>
            <a:ext cx="1549500" cy="16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3100" lIns="23100" spcFirstLastPara="1" rIns="23100" wrap="square" tIns="231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Taxa de conversão</a:t>
            </a:r>
            <a:endParaRPr i="0" sz="8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45" name="Google Shape;245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024213" y="1412595"/>
            <a:ext cx="229778" cy="229777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1"/>
          <p:cNvSpPr/>
          <p:nvPr/>
        </p:nvSpPr>
        <p:spPr>
          <a:xfrm>
            <a:off x="4221747" y="1476988"/>
            <a:ext cx="116700" cy="101100"/>
          </a:xfrm>
          <a:prstGeom prst="triangle">
            <a:avLst>
              <a:gd fmla="val 50000" name="adj"/>
            </a:avLst>
          </a:prstGeom>
          <a:solidFill>
            <a:srgbClr val="00F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21"/>
          <p:cNvSpPr txBox="1"/>
          <p:nvPr/>
        </p:nvSpPr>
        <p:spPr>
          <a:xfrm>
            <a:off x="4411712" y="1403765"/>
            <a:ext cx="6096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3100" lIns="23100" spcFirstLastPara="1" rIns="23100" wrap="square" tIns="231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pt-BR" sz="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4,89% </a:t>
            </a:r>
            <a:br>
              <a:rPr lang="pt-BR" sz="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pt-BR" sz="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(comp. AGO)</a:t>
            </a:r>
            <a:endParaRPr i="0" sz="7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8" name="Google Shape;248;p21"/>
          <p:cNvSpPr/>
          <p:nvPr/>
        </p:nvSpPr>
        <p:spPr>
          <a:xfrm>
            <a:off x="5610590" y="1227225"/>
            <a:ext cx="1936200" cy="68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600" lIns="95225" spcFirstLastPara="1" rIns="95225" wrap="square" tIns="4760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pt-BR" sz="2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R$ 4.360,61</a:t>
            </a:r>
            <a:endParaRPr b="1" i="0" sz="22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9" name="Google Shape;249;p21"/>
          <p:cNvSpPr txBox="1"/>
          <p:nvPr/>
        </p:nvSpPr>
        <p:spPr>
          <a:xfrm>
            <a:off x="5701197" y="1737572"/>
            <a:ext cx="1549500" cy="16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3100" lIns="23100" spcFirstLastPara="1" rIns="23100" wrap="square" tIns="231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Ticket médio</a:t>
            </a:r>
            <a:endParaRPr sz="8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50" name="Google Shape;250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402773" y="1412595"/>
            <a:ext cx="229778" cy="229777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1"/>
          <p:cNvSpPr/>
          <p:nvPr/>
        </p:nvSpPr>
        <p:spPr>
          <a:xfrm>
            <a:off x="7514273" y="1476988"/>
            <a:ext cx="116700" cy="101100"/>
          </a:xfrm>
          <a:prstGeom prst="triangle">
            <a:avLst>
              <a:gd fmla="val 50000" name="adj"/>
            </a:avLst>
          </a:prstGeom>
          <a:solidFill>
            <a:srgbClr val="00F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21"/>
          <p:cNvSpPr txBox="1"/>
          <p:nvPr/>
        </p:nvSpPr>
        <p:spPr>
          <a:xfrm>
            <a:off x="7704224" y="1403765"/>
            <a:ext cx="6918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23100" lIns="23100" spcFirstLastPara="1" rIns="23100" wrap="square" tIns="231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pt-BR" sz="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4,04% </a:t>
            </a:r>
            <a:br>
              <a:rPr lang="pt-BR" sz="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pt-BR" sz="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(comp. AGO)</a:t>
            </a:r>
            <a:endParaRPr i="0" sz="7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3" name="Google Shape;253;p21"/>
          <p:cNvSpPr/>
          <p:nvPr/>
        </p:nvSpPr>
        <p:spPr>
          <a:xfrm>
            <a:off x="866782" y="1271410"/>
            <a:ext cx="1549500" cy="68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600" lIns="95225" spcFirstLastPara="1" rIns="95225" wrap="square" tIns="4760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pt-BR" sz="2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0,71%</a:t>
            </a:r>
            <a:endParaRPr b="1" i="0" sz="22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4" name="Google Shape;254;p21"/>
          <p:cNvSpPr txBox="1"/>
          <p:nvPr/>
        </p:nvSpPr>
        <p:spPr>
          <a:xfrm>
            <a:off x="964173" y="1737572"/>
            <a:ext cx="1549500" cy="16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3100" lIns="23100" spcFirstLastPara="1" rIns="23100" wrap="square" tIns="231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i="0" lang="pt-BR" sz="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CTR</a:t>
            </a:r>
            <a:endParaRPr i="0" sz="8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55" name="Google Shape;255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8953" y="1456775"/>
            <a:ext cx="229778" cy="229777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1"/>
          <p:cNvSpPr/>
          <p:nvPr/>
        </p:nvSpPr>
        <p:spPr>
          <a:xfrm flipH="1" rot="10800000">
            <a:off x="1856487" y="1521052"/>
            <a:ext cx="116700" cy="101100"/>
          </a:xfrm>
          <a:prstGeom prst="triangle">
            <a:avLst>
              <a:gd fmla="val 50000" name="adj"/>
            </a:avLst>
          </a:prstGeom>
          <a:solidFill>
            <a:srgbClr val="E528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21"/>
          <p:cNvSpPr txBox="1"/>
          <p:nvPr/>
        </p:nvSpPr>
        <p:spPr>
          <a:xfrm>
            <a:off x="2046439" y="1447945"/>
            <a:ext cx="6570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23100" lIns="23100" spcFirstLastPara="1" rIns="23100" wrap="square" tIns="231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pt-BR" sz="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18,39% </a:t>
            </a:r>
            <a:br>
              <a:rPr lang="pt-BR" sz="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pt-BR" sz="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(comp. AGO)</a:t>
            </a:r>
            <a:endParaRPr i="0" sz="7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8" name="Google Shape;258;p21"/>
          <p:cNvSpPr txBox="1"/>
          <p:nvPr/>
        </p:nvSpPr>
        <p:spPr>
          <a:xfrm>
            <a:off x="8393925" y="4715316"/>
            <a:ext cx="74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7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LOGO DA UNIDADE</a:t>
            </a:r>
            <a:endParaRPr b="1" sz="700">
              <a:solidFill>
                <a:srgbClr val="FFFFF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2"/>
          <p:cNvSpPr txBox="1"/>
          <p:nvPr/>
        </p:nvSpPr>
        <p:spPr>
          <a:xfrm>
            <a:off x="3090013" y="289500"/>
            <a:ext cx="3378900" cy="56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Criativos Campeões</a:t>
            </a:r>
            <a:endParaRPr b="1" sz="24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64" name="Google Shape;264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75085" y="395249"/>
            <a:ext cx="353980" cy="354001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2"/>
          <p:cNvSpPr/>
          <p:nvPr/>
        </p:nvSpPr>
        <p:spPr>
          <a:xfrm>
            <a:off x="582900" y="1028710"/>
            <a:ext cx="7978200" cy="3261600"/>
          </a:xfrm>
          <a:prstGeom prst="roundRect">
            <a:avLst>
              <a:gd fmla="val 5968" name="adj"/>
            </a:avLst>
          </a:prstGeom>
          <a:solidFill>
            <a:srgbClr val="09060B">
              <a:alpha val="60000"/>
            </a:srgbClr>
          </a:solidFill>
          <a:ln cap="flat" cmpd="sng" w="9525">
            <a:solidFill>
              <a:srgbClr val="ED1B18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2"/>
          <p:cNvSpPr txBox="1"/>
          <p:nvPr/>
        </p:nvSpPr>
        <p:spPr>
          <a:xfrm>
            <a:off x="2750841" y="2610600"/>
            <a:ext cx="3642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Encaixe o print do relatório sem ultrapassar o contorno trajado</a:t>
            </a:r>
            <a:endParaRPr sz="800">
              <a:solidFill>
                <a:schemeClr val="lt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267" name="Google Shape;267;p22"/>
          <p:cNvSpPr txBox="1"/>
          <p:nvPr/>
        </p:nvSpPr>
        <p:spPr>
          <a:xfrm>
            <a:off x="3516903" y="2225100"/>
            <a:ext cx="2110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Print report</a:t>
            </a:r>
            <a:endParaRPr sz="18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68" name="Google Shape;268;p22"/>
          <p:cNvSpPr txBox="1"/>
          <p:nvPr/>
        </p:nvSpPr>
        <p:spPr>
          <a:xfrm>
            <a:off x="8393925" y="4715316"/>
            <a:ext cx="74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7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LOGO DA UNIDADE</a:t>
            </a:r>
            <a:endParaRPr b="1" sz="700">
              <a:solidFill>
                <a:srgbClr val="FFFFF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3"/>
          <p:cNvSpPr txBox="1"/>
          <p:nvPr/>
        </p:nvSpPr>
        <p:spPr>
          <a:xfrm>
            <a:off x="1833674" y="357675"/>
            <a:ext cx="6172200" cy="56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Aprendizados e Plano de Ação</a:t>
            </a:r>
            <a:endParaRPr b="1" sz="24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4" name="Google Shape;274;p23"/>
          <p:cNvSpPr txBox="1"/>
          <p:nvPr/>
        </p:nvSpPr>
        <p:spPr>
          <a:xfrm>
            <a:off x="8393925" y="4715316"/>
            <a:ext cx="74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7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LOGO DA UNIDADE</a:t>
            </a:r>
            <a:endParaRPr b="1" sz="700">
              <a:solidFill>
                <a:srgbClr val="FFFFF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4"/>
          <p:cNvSpPr txBox="1"/>
          <p:nvPr/>
        </p:nvSpPr>
        <p:spPr>
          <a:xfrm>
            <a:off x="3090013" y="289500"/>
            <a:ext cx="3378900" cy="56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Criativos Campeões</a:t>
            </a:r>
            <a:endParaRPr b="1" sz="24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80" name="Google Shape;280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75085" y="395249"/>
            <a:ext cx="353980" cy="354001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24"/>
          <p:cNvSpPr/>
          <p:nvPr/>
        </p:nvSpPr>
        <p:spPr>
          <a:xfrm>
            <a:off x="861025" y="1219200"/>
            <a:ext cx="2301300" cy="2850000"/>
          </a:xfrm>
          <a:prstGeom prst="roundRect">
            <a:avLst>
              <a:gd fmla="val 3800" name="adj"/>
            </a:avLst>
          </a:prstGeom>
          <a:solidFill>
            <a:srgbClr val="09060B">
              <a:alpha val="60000"/>
            </a:srgbClr>
          </a:solidFill>
          <a:ln cap="flat" cmpd="sng" w="9525">
            <a:solidFill>
              <a:srgbClr val="ED1B18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24"/>
          <p:cNvSpPr txBox="1"/>
          <p:nvPr/>
        </p:nvSpPr>
        <p:spPr>
          <a:xfrm>
            <a:off x="1081875" y="2536100"/>
            <a:ext cx="1859400" cy="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Encaixe o print do criativo sem ultrapassar o contorno trajado</a:t>
            </a:r>
            <a:endParaRPr sz="700">
              <a:solidFill>
                <a:schemeClr val="lt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283" name="Google Shape;283;p24"/>
          <p:cNvSpPr txBox="1"/>
          <p:nvPr/>
        </p:nvSpPr>
        <p:spPr>
          <a:xfrm>
            <a:off x="956528" y="2226800"/>
            <a:ext cx="21102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Print criativo</a:t>
            </a:r>
            <a:endParaRPr sz="17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84" name="Google Shape;284;p24"/>
          <p:cNvSpPr/>
          <p:nvPr/>
        </p:nvSpPr>
        <p:spPr>
          <a:xfrm>
            <a:off x="3421350" y="1219200"/>
            <a:ext cx="2301300" cy="2850000"/>
          </a:xfrm>
          <a:prstGeom prst="roundRect">
            <a:avLst>
              <a:gd fmla="val 3800" name="adj"/>
            </a:avLst>
          </a:prstGeom>
          <a:solidFill>
            <a:srgbClr val="09060B">
              <a:alpha val="60000"/>
            </a:srgbClr>
          </a:solidFill>
          <a:ln cap="flat" cmpd="sng" w="9525">
            <a:solidFill>
              <a:srgbClr val="ED1B18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24"/>
          <p:cNvSpPr txBox="1"/>
          <p:nvPr/>
        </p:nvSpPr>
        <p:spPr>
          <a:xfrm>
            <a:off x="3642200" y="2536100"/>
            <a:ext cx="1859400" cy="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Encaixe o print do criativo sem ultrapassar o contorno trajado</a:t>
            </a:r>
            <a:endParaRPr sz="700">
              <a:solidFill>
                <a:schemeClr val="lt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286" name="Google Shape;286;p24"/>
          <p:cNvSpPr txBox="1"/>
          <p:nvPr/>
        </p:nvSpPr>
        <p:spPr>
          <a:xfrm>
            <a:off x="3516853" y="2226800"/>
            <a:ext cx="21102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Print criativo</a:t>
            </a:r>
            <a:endParaRPr sz="17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87" name="Google Shape;287;p24"/>
          <p:cNvSpPr/>
          <p:nvPr/>
        </p:nvSpPr>
        <p:spPr>
          <a:xfrm>
            <a:off x="5981675" y="1219200"/>
            <a:ext cx="2301300" cy="2850000"/>
          </a:xfrm>
          <a:prstGeom prst="roundRect">
            <a:avLst>
              <a:gd fmla="val 3800" name="adj"/>
            </a:avLst>
          </a:prstGeom>
          <a:solidFill>
            <a:srgbClr val="09060B">
              <a:alpha val="60000"/>
            </a:srgbClr>
          </a:solidFill>
          <a:ln cap="flat" cmpd="sng" w="9525">
            <a:solidFill>
              <a:srgbClr val="ED1B18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24"/>
          <p:cNvSpPr txBox="1"/>
          <p:nvPr/>
        </p:nvSpPr>
        <p:spPr>
          <a:xfrm>
            <a:off x="6202525" y="2536100"/>
            <a:ext cx="1859400" cy="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Encaixe o print do criativo sem ultrapassar o contorno trajado</a:t>
            </a:r>
            <a:endParaRPr sz="700">
              <a:solidFill>
                <a:schemeClr val="lt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289" name="Google Shape;289;p24"/>
          <p:cNvSpPr txBox="1"/>
          <p:nvPr/>
        </p:nvSpPr>
        <p:spPr>
          <a:xfrm>
            <a:off x="6077178" y="2226800"/>
            <a:ext cx="21102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Print criativo</a:t>
            </a:r>
            <a:endParaRPr sz="17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90" name="Google Shape;290;p24"/>
          <p:cNvSpPr txBox="1"/>
          <p:nvPr/>
        </p:nvSpPr>
        <p:spPr>
          <a:xfrm>
            <a:off x="8393925" y="4715316"/>
            <a:ext cx="74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7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LOGO DA UNIDADE</a:t>
            </a:r>
            <a:endParaRPr b="1" sz="700">
              <a:solidFill>
                <a:srgbClr val="FFFFF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5"/>
          <p:cNvSpPr/>
          <p:nvPr/>
        </p:nvSpPr>
        <p:spPr>
          <a:xfrm>
            <a:off x="5745175" y="479112"/>
            <a:ext cx="2163300" cy="1072800"/>
          </a:xfrm>
          <a:prstGeom prst="roundRect">
            <a:avLst>
              <a:gd fmla="val 4761" name="adj"/>
            </a:avLst>
          </a:prstGeom>
          <a:solidFill>
            <a:srgbClr val="39980F">
              <a:alpha val="27500"/>
            </a:srgbClr>
          </a:solidFill>
          <a:ln cap="flat" cmpd="sng" w="9525">
            <a:solidFill>
              <a:srgbClr val="3998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296" name="Google Shape;296;p25"/>
          <p:cNvSpPr txBox="1"/>
          <p:nvPr/>
        </p:nvSpPr>
        <p:spPr>
          <a:xfrm>
            <a:off x="742507" y="2251626"/>
            <a:ext cx="3729300" cy="10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53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Objetivos</a:t>
            </a:r>
            <a:endParaRPr b="1" sz="53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97" name="Google Shape;297;p25"/>
          <p:cNvSpPr txBox="1"/>
          <p:nvPr/>
        </p:nvSpPr>
        <p:spPr>
          <a:xfrm>
            <a:off x="5868031" y="513103"/>
            <a:ext cx="1153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Resultados</a:t>
            </a:r>
            <a:endParaRPr b="1" sz="13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98" name="Google Shape;298;p25"/>
          <p:cNvSpPr txBox="1"/>
          <p:nvPr/>
        </p:nvSpPr>
        <p:spPr>
          <a:xfrm>
            <a:off x="5730351" y="738112"/>
            <a:ext cx="2036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roxima Nova"/>
              <a:buChar char="-"/>
            </a:pPr>
            <a:r>
              <a:rPr lang="pt-BR" sz="9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Gerais</a:t>
            </a:r>
            <a:endParaRPr sz="9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roxima Nova"/>
              <a:buChar char="-"/>
            </a:pPr>
            <a:r>
              <a:rPr lang="pt-BR" sz="9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Por canal</a:t>
            </a:r>
            <a:endParaRPr sz="9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roxima Nova"/>
              <a:buChar char="-"/>
            </a:pPr>
            <a:r>
              <a:rPr lang="pt-BR" sz="9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Criativos vencedores</a:t>
            </a:r>
            <a:endParaRPr sz="9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roxima Nova"/>
              <a:buChar char="-"/>
            </a:pPr>
            <a:r>
              <a:rPr lang="pt-BR" sz="9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Aprendizados</a:t>
            </a:r>
            <a:endParaRPr sz="9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99" name="Google Shape;299;p25"/>
          <p:cNvSpPr/>
          <p:nvPr/>
        </p:nvSpPr>
        <p:spPr>
          <a:xfrm>
            <a:off x="5745175" y="1657000"/>
            <a:ext cx="2163300" cy="806100"/>
          </a:xfrm>
          <a:prstGeom prst="roundRect">
            <a:avLst>
              <a:gd fmla="val 4761" name="adj"/>
            </a:avLst>
          </a:prstGeom>
          <a:solidFill>
            <a:srgbClr val="E52832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300" name="Google Shape;300;p25"/>
          <p:cNvSpPr txBox="1"/>
          <p:nvPr/>
        </p:nvSpPr>
        <p:spPr>
          <a:xfrm>
            <a:off x="5868031" y="1691001"/>
            <a:ext cx="1153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Objetivos</a:t>
            </a:r>
            <a:endParaRPr b="1" sz="13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01" name="Google Shape;301;p25"/>
          <p:cNvSpPr txBox="1"/>
          <p:nvPr/>
        </p:nvSpPr>
        <p:spPr>
          <a:xfrm>
            <a:off x="5725248" y="1943735"/>
            <a:ext cx="1800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roxima Nova"/>
              <a:buChar char="-"/>
            </a:pPr>
            <a:r>
              <a:rPr lang="pt-BR" sz="9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Avanço das OKRs</a:t>
            </a:r>
            <a:endParaRPr sz="9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roxima Nova"/>
              <a:buChar char="-"/>
            </a:pPr>
            <a:r>
              <a:rPr lang="pt-BR" sz="9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Step do Projeto</a:t>
            </a:r>
            <a:endParaRPr sz="9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02" name="Google Shape;302;p25"/>
          <p:cNvSpPr/>
          <p:nvPr/>
        </p:nvSpPr>
        <p:spPr>
          <a:xfrm>
            <a:off x="5745175" y="2563142"/>
            <a:ext cx="2163300" cy="448200"/>
          </a:xfrm>
          <a:prstGeom prst="roundRect">
            <a:avLst>
              <a:gd fmla="val 4761" name="adj"/>
            </a:avLst>
          </a:prstGeom>
          <a:solidFill>
            <a:srgbClr val="09060B">
              <a:alpha val="60000"/>
            </a:srgbClr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666666"/>
              </a:solidFill>
            </a:endParaRPr>
          </a:p>
        </p:txBody>
      </p:sp>
      <p:sp>
        <p:nvSpPr>
          <p:cNvPr id="303" name="Google Shape;303;p25"/>
          <p:cNvSpPr txBox="1"/>
          <p:nvPr/>
        </p:nvSpPr>
        <p:spPr>
          <a:xfrm>
            <a:off x="5896336" y="2597141"/>
            <a:ext cx="1924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666666"/>
                </a:solidFill>
                <a:latin typeface="Proxima Nova"/>
                <a:ea typeface="Proxima Nova"/>
                <a:cs typeface="Proxima Nova"/>
                <a:sym typeface="Proxima Nova"/>
              </a:rPr>
              <a:t>Premissas e Riscos</a:t>
            </a:r>
            <a:endParaRPr b="1" sz="1300">
              <a:solidFill>
                <a:srgbClr val="666666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04" name="Google Shape;304;p25"/>
          <p:cNvSpPr/>
          <p:nvPr/>
        </p:nvSpPr>
        <p:spPr>
          <a:xfrm>
            <a:off x="5758472" y="3123866"/>
            <a:ext cx="2163300" cy="932700"/>
          </a:xfrm>
          <a:prstGeom prst="roundRect">
            <a:avLst>
              <a:gd fmla="val 4761" name="adj"/>
            </a:avLst>
          </a:prstGeom>
          <a:solidFill>
            <a:srgbClr val="09060B">
              <a:alpha val="60000"/>
            </a:srgbClr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305" name="Google Shape;305;p25"/>
          <p:cNvSpPr txBox="1"/>
          <p:nvPr/>
        </p:nvSpPr>
        <p:spPr>
          <a:xfrm>
            <a:off x="5872527" y="3157861"/>
            <a:ext cx="1400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666666"/>
                </a:solidFill>
                <a:latin typeface="Proxima Nova"/>
                <a:ea typeface="Proxima Nova"/>
                <a:cs typeface="Proxima Nova"/>
                <a:sym typeface="Proxima Nova"/>
              </a:rPr>
              <a:t>Entregas</a:t>
            </a:r>
            <a:endParaRPr b="1" sz="1300">
              <a:solidFill>
                <a:srgbClr val="666666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06" name="Google Shape;306;p25"/>
          <p:cNvSpPr txBox="1"/>
          <p:nvPr/>
        </p:nvSpPr>
        <p:spPr>
          <a:xfrm>
            <a:off x="5735388" y="3410608"/>
            <a:ext cx="17958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Proxima Nova"/>
              <a:buChar char="-"/>
            </a:pPr>
            <a:r>
              <a:rPr lang="pt-BR" sz="900">
                <a:solidFill>
                  <a:srgbClr val="666666"/>
                </a:solidFill>
                <a:latin typeface="Proxima Nova"/>
                <a:ea typeface="Proxima Nova"/>
                <a:cs typeface="Proxima Nova"/>
                <a:sym typeface="Proxima Nova"/>
              </a:rPr>
              <a:t>Realizadas</a:t>
            </a:r>
            <a:endParaRPr sz="900">
              <a:solidFill>
                <a:srgbClr val="666666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Proxima Nova"/>
              <a:buChar char="-"/>
            </a:pPr>
            <a:r>
              <a:rPr lang="pt-BR" sz="900">
                <a:solidFill>
                  <a:srgbClr val="666666"/>
                </a:solidFill>
                <a:latin typeface="Proxima Nova"/>
                <a:ea typeface="Proxima Nova"/>
                <a:cs typeface="Proxima Nova"/>
                <a:sym typeface="Proxima Nova"/>
              </a:rPr>
              <a:t>Previstas</a:t>
            </a:r>
            <a:endParaRPr sz="900">
              <a:solidFill>
                <a:srgbClr val="666666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Proxima Nova"/>
              <a:buChar char="-"/>
            </a:pPr>
            <a:r>
              <a:rPr lang="pt-BR" sz="900">
                <a:solidFill>
                  <a:srgbClr val="666666"/>
                </a:solidFill>
                <a:latin typeface="Proxima Nova"/>
                <a:ea typeface="Proxima Nova"/>
                <a:cs typeface="Proxima Nova"/>
                <a:sym typeface="Proxima Nova"/>
              </a:rPr>
              <a:t>Revisão do Playbook</a:t>
            </a:r>
            <a:endParaRPr sz="900">
              <a:solidFill>
                <a:srgbClr val="666666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07" name="Google Shape;307;p25"/>
          <p:cNvSpPr/>
          <p:nvPr/>
        </p:nvSpPr>
        <p:spPr>
          <a:xfrm>
            <a:off x="5244308" y="479331"/>
            <a:ext cx="414900" cy="448200"/>
          </a:xfrm>
          <a:prstGeom prst="roundRect">
            <a:avLst>
              <a:gd fmla="val 11208" name="adj"/>
            </a:avLst>
          </a:prstGeom>
          <a:solidFill>
            <a:srgbClr val="39980F">
              <a:alpha val="27500"/>
            </a:srgbClr>
          </a:solidFill>
          <a:ln cap="flat" cmpd="sng" w="9525">
            <a:solidFill>
              <a:srgbClr val="3998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01</a:t>
            </a:r>
            <a:endParaRPr b="1" sz="13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08" name="Google Shape;308;p25"/>
          <p:cNvSpPr/>
          <p:nvPr/>
        </p:nvSpPr>
        <p:spPr>
          <a:xfrm>
            <a:off x="5250418" y="1656998"/>
            <a:ext cx="414900" cy="448200"/>
          </a:xfrm>
          <a:prstGeom prst="roundRect">
            <a:avLst>
              <a:gd fmla="val 11208" name="adj"/>
            </a:avLst>
          </a:prstGeom>
          <a:solidFill>
            <a:srgbClr val="E52832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02</a:t>
            </a:r>
            <a:endParaRPr b="1" sz="13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09" name="Google Shape;309;p25"/>
          <p:cNvSpPr/>
          <p:nvPr/>
        </p:nvSpPr>
        <p:spPr>
          <a:xfrm>
            <a:off x="5244298" y="2563363"/>
            <a:ext cx="414900" cy="448200"/>
          </a:xfrm>
          <a:prstGeom prst="roundRect">
            <a:avLst>
              <a:gd fmla="val 11208" name="adj"/>
            </a:avLst>
          </a:prstGeom>
          <a:solidFill>
            <a:srgbClr val="09060B">
              <a:alpha val="60000"/>
            </a:srgbClr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666666"/>
                </a:solidFill>
                <a:latin typeface="Proxima Nova"/>
                <a:ea typeface="Proxima Nova"/>
                <a:cs typeface="Proxima Nova"/>
                <a:sym typeface="Proxima Nova"/>
              </a:rPr>
              <a:t>03</a:t>
            </a:r>
            <a:endParaRPr b="1" sz="1300">
              <a:solidFill>
                <a:srgbClr val="666666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10" name="Google Shape;310;p25"/>
          <p:cNvSpPr/>
          <p:nvPr/>
        </p:nvSpPr>
        <p:spPr>
          <a:xfrm>
            <a:off x="5250418" y="3112988"/>
            <a:ext cx="414900" cy="448200"/>
          </a:xfrm>
          <a:prstGeom prst="roundRect">
            <a:avLst>
              <a:gd fmla="val 11208" name="adj"/>
            </a:avLst>
          </a:prstGeom>
          <a:solidFill>
            <a:srgbClr val="09060B">
              <a:alpha val="60000"/>
            </a:srgbClr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666666"/>
                </a:solidFill>
                <a:latin typeface="Proxima Nova"/>
                <a:ea typeface="Proxima Nova"/>
                <a:cs typeface="Proxima Nova"/>
                <a:sym typeface="Proxima Nova"/>
              </a:rPr>
              <a:t>04</a:t>
            </a:r>
            <a:endParaRPr b="1" sz="1300">
              <a:solidFill>
                <a:srgbClr val="666666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11" name="Google Shape;311;p25"/>
          <p:cNvSpPr/>
          <p:nvPr/>
        </p:nvSpPr>
        <p:spPr>
          <a:xfrm>
            <a:off x="5780381" y="4179860"/>
            <a:ext cx="2163300" cy="448200"/>
          </a:xfrm>
          <a:prstGeom prst="roundRect">
            <a:avLst>
              <a:gd fmla="val 4761" name="adj"/>
            </a:avLst>
          </a:prstGeom>
          <a:solidFill>
            <a:srgbClr val="09060B">
              <a:alpha val="60000"/>
            </a:srgbClr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312" name="Google Shape;312;p25"/>
          <p:cNvSpPr txBox="1"/>
          <p:nvPr/>
        </p:nvSpPr>
        <p:spPr>
          <a:xfrm>
            <a:off x="5931541" y="4213859"/>
            <a:ext cx="1924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666666"/>
                </a:solidFill>
                <a:latin typeface="Proxima Nova"/>
                <a:ea typeface="Proxima Nova"/>
                <a:cs typeface="Proxima Nova"/>
                <a:sym typeface="Proxima Nova"/>
              </a:rPr>
              <a:t>Próximos Passos</a:t>
            </a:r>
            <a:endParaRPr b="1" sz="1300">
              <a:solidFill>
                <a:srgbClr val="666666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13" name="Google Shape;313;p25"/>
          <p:cNvSpPr/>
          <p:nvPr/>
        </p:nvSpPr>
        <p:spPr>
          <a:xfrm>
            <a:off x="5279504" y="4180081"/>
            <a:ext cx="414900" cy="448200"/>
          </a:xfrm>
          <a:prstGeom prst="roundRect">
            <a:avLst>
              <a:gd fmla="val 11208" name="adj"/>
            </a:avLst>
          </a:prstGeom>
          <a:solidFill>
            <a:srgbClr val="09060B">
              <a:alpha val="60000"/>
            </a:srgbClr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666666"/>
                </a:solidFill>
                <a:latin typeface="Proxima Nova"/>
                <a:ea typeface="Proxima Nova"/>
                <a:cs typeface="Proxima Nova"/>
                <a:sym typeface="Proxima Nova"/>
              </a:rPr>
              <a:t>05</a:t>
            </a:r>
            <a:endParaRPr b="1" sz="1300">
              <a:solidFill>
                <a:srgbClr val="666666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14" name="Google Shape;314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73381" y="1822603"/>
            <a:ext cx="160650" cy="160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85778" y="625227"/>
            <a:ext cx="194121" cy="160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25"/>
          <p:cNvPicPr preferRelativeResize="0"/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>
            <a:off x="7573381" y="2713166"/>
            <a:ext cx="160650" cy="160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25"/>
          <p:cNvPicPr preferRelativeResize="0"/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>
            <a:off x="7573381" y="3282929"/>
            <a:ext cx="160650" cy="160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25"/>
          <p:cNvPicPr preferRelativeResize="0"/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>
            <a:off x="7573381" y="4325979"/>
            <a:ext cx="160650" cy="16065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25"/>
          <p:cNvSpPr txBox="1"/>
          <p:nvPr/>
        </p:nvSpPr>
        <p:spPr>
          <a:xfrm>
            <a:off x="773491" y="1977017"/>
            <a:ext cx="3382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ROPRE</a:t>
            </a:r>
            <a:endParaRPr sz="24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20" name="Google Shape;320;p25"/>
          <p:cNvSpPr txBox="1"/>
          <p:nvPr/>
        </p:nvSpPr>
        <p:spPr>
          <a:xfrm>
            <a:off x="8393925" y="4715316"/>
            <a:ext cx="74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7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LOGO DA UNIDADE</a:t>
            </a:r>
            <a:endParaRPr b="1" sz="700">
              <a:solidFill>
                <a:srgbClr val="FFFFF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6"/>
          <p:cNvSpPr txBox="1"/>
          <p:nvPr/>
        </p:nvSpPr>
        <p:spPr>
          <a:xfrm>
            <a:off x="8393925" y="4715316"/>
            <a:ext cx="74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7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LOGO DA UNIDADE</a:t>
            </a:r>
            <a:endParaRPr b="1" sz="700">
              <a:solidFill>
                <a:srgbClr val="FFFFF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27"/>
          <p:cNvSpPr/>
          <p:nvPr/>
        </p:nvSpPr>
        <p:spPr>
          <a:xfrm>
            <a:off x="5745175" y="479112"/>
            <a:ext cx="2163300" cy="1072800"/>
          </a:xfrm>
          <a:prstGeom prst="roundRect">
            <a:avLst>
              <a:gd fmla="val 4761" name="adj"/>
            </a:avLst>
          </a:prstGeom>
          <a:solidFill>
            <a:srgbClr val="39980F">
              <a:alpha val="27500"/>
            </a:srgbClr>
          </a:solidFill>
          <a:ln cap="flat" cmpd="sng" w="9525">
            <a:solidFill>
              <a:srgbClr val="3998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331" name="Google Shape;331;p27"/>
          <p:cNvSpPr txBox="1"/>
          <p:nvPr/>
        </p:nvSpPr>
        <p:spPr>
          <a:xfrm>
            <a:off x="742507" y="2099226"/>
            <a:ext cx="3729300" cy="149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53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Premissas</a:t>
            </a:r>
            <a:endParaRPr b="1" sz="53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53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e Riscos</a:t>
            </a:r>
            <a:endParaRPr b="1" sz="53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32" name="Google Shape;332;p27"/>
          <p:cNvSpPr txBox="1"/>
          <p:nvPr/>
        </p:nvSpPr>
        <p:spPr>
          <a:xfrm>
            <a:off x="5868031" y="513103"/>
            <a:ext cx="1153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Resultados</a:t>
            </a:r>
            <a:endParaRPr b="1" sz="13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33" name="Google Shape;333;p27"/>
          <p:cNvSpPr txBox="1"/>
          <p:nvPr/>
        </p:nvSpPr>
        <p:spPr>
          <a:xfrm>
            <a:off x="5730351" y="738112"/>
            <a:ext cx="2036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roxima Nova"/>
              <a:buChar char="-"/>
            </a:pPr>
            <a:r>
              <a:rPr lang="pt-BR" sz="9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Gerais</a:t>
            </a:r>
            <a:endParaRPr sz="9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roxima Nova"/>
              <a:buChar char="-"/>
            </a:pPr>
            <a:r>
              <a:rPr lang="pt-BR" sz="9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Por canal</a:t>
            </a:r>
            <a:endParaRPr sz="9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roxima Nova"/>
              <a:buChar char="-"/>
            </a:pPr>
            <a:r>
              <a:rPr lang="pt-BR" sz="9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Criativos vencedores</a:t>
            </a:r>
            <a:endParaRPr sz="9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roxima Nova"/>
              <a:buChar char="-"/>
            </a:pPr>
            <a:r>
              <a:rPr lang="pt-BR" sz="9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Aprendizados</a:t>
            </a:r>
            <a:endParaRPr sz="9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34" name="Google Shape;334;p27"/>
          <p:cNvSpPr/>
          <p:nvPr/>
        </p:nvSpPr>
        <p:spPr>
          <a:xfrm>
            <a:off x="5745175" y="1657000"/>
            <a:ext cx="2163300" cy="806100"/>
          </a:xfrm>
          <a:prstGeom prst="roundRect">
            <a:avLst>
              <a:gd fmla="val 4761" name="adj"/>
            </a:avLst>
          </a:prstGeom>
          <a:solidFill>
            <a:srgbClr val="39980F">
              <a:alpha val="27500"/>
            </a:srgbClr>
          </a:solidFill>
          <a:ln cap="flat" cmpd="sng" w="9525">
            <a:solidFill>
              <a:srgbClr val="3998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335" name="Google Shape;335;p27"/>
          <p:cNvSpPr txBox="1"/>
          <p:nvPr/>
        </p:nvSpPr>
        <p:spPr>
          <a:xfrm>
            <a:off x="5868031" y="1691001"/>
            <a:ext cx="1153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Objetivos</a:t>
            </a:r>
            <a:endParaRPr b="1" sz="13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36" name="Google Shape;336;p27"/>
          <p:cNvSpPr txBox="1"/>
          <p:nvPr/>
        </p:nvSpPr>
        <p:spPr>
          <a:xfrm>
            <a:off x="5725248" y="1943735"/>
            <a:ext cx="1800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roxima Nova"/>
              <a:buChar char="-"/>
            </a:pPr>
            <a:r>
              <a:rPr lang="pt-BR" sz="9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Avanço das OKRs</a:t>
            </a:r>
            <a:endParaRPr sz="9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roxima Nova"/>
              <a:buChar char="-"/>
            </a:pPr>
            <a:r>
              <a:rPr lang="pt-BR" sz="9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Step do Projeto</a:t>
            </a:r>
            <a:endParaRPr sz="9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37" name="Google Shape;337;p27"/>
          <p:cNvSpPr/>
          <p:nvPr/>
        </p:nvSpPr>
        <p:spPr>
          <a:xfrm>
            <a:off x="5745175" y="2563142"/>
            <a:ext cx="2163300" cy="448200"/>
          </a:xfrm>
          <a:prstGeom prst="roundRect">
            <a:avLst>
              <a:gd fmla="val 4761" name="adj"/>
            </a:avLst>
          </a:prstGeom>
          <a:solidFill>
            <a:srgbClr val="E52832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</a:endParaRPr>
          </a:p>
        </p:txBody>
      </p:sp>
      <p:sp>
        <p:nvSpPr>
          <p:cNvPr id="338" name="Google Shape;338;p27"/>
          <p:cNvSpPr txBox="1"/>
          <p:nvPr/>
        </p:nvSpPr>
        <p:spPr>
          <a:xfrm>
            <a:off x="5896336" y="2597141"/>
            <a:ext cx="1924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Premissas e Riscos</a:t>
            </a:r>
            <a:endParaRPr b="1" sz="13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39" name="Google Shape;339;p27"/>
          <p:cNvSpPr/>
          <p:nvPr/>
        </p:nvSpPr>
        <p:spPr>
          <a:xfrm>
            <a:off x="5758472" y="3123866"/>
            <a:ext cx="2163300" cy="932700"/>
          </a:xfrm>
          <a:prstGeom prst="roundRect">
            <a:avLst>
              <a:gd fmla="val 4761" name="adj"/>
            </a:avLst>
          </a:prstGeom>
          <a:solidFill>
            <a:srgbClr val="09060B">
              <a:alpha val="60000"/>
            </a:srgbClr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340" name="Google Shape;340;p27"/>
          <p:cNvSpPr txBox="1"/>
          <p:nvPr/>
        </p:nvSpPr>
        <p:spPr>
          <a:xfrm>
            <a:off x="5872527" y="3157861"/>
            <a:ext cx="1400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666666"/>
                </a:solidFill>
                <a:latin typeface="Proxima Nova"/>
                <a:ea typeface="Proxima Nova"/>
                <a:cs typeface="Proxima Nova"/>
                <a:sym typeface="Proxima Nova"/>
              </a:rPr>
              <a:t>Entregas</a:t>
            </a:r>
            <a:endParaRPr b="1" sz="1300">
              <a:solidFill>
                <a:srgbClr val="666666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41" name="Google Shape;341;p27"/>
          <p:cNvSpPr txBox="1"/>
          <p:nvPr/>
        </p:nvSpPr>
        <p:spPr>
          <a:xfrm>
            <a:off x="5735388" y="3410608"/>
            <a:ext cx="17958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Proxima Nova"/>
              <a:buChar char="-"/>
            </a:pPr>
            <a:r>
              <a:rPr lang="pt-BR" sz="900">
                <a:solidFill>
                  <a:srgbClr val="666666"/>
                </a:solidFill>
                <a:latin typeface="Proxima Nova"/>
                <a:ea typeface="Proxima Nova"/>
                <a:cs typeface="Proxima Nova"/>
                <a:sym typeface="Proxima Nova"/>
              </a:rPr>
              <a:t>Realizadas</a:t>
            </a:r>
            <a:endParaRPr sz="900">
              <a:solidFill>
                <a:srgbClr val="666666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Proxima Nova"/>
              <a:buChar char="-"/>
            </a:pPr>
            <a:r>
              <a:rPr lang="pt-BR" sz="900">
                <a:solidFill>
                  <a:srgbClr val="666666"/>
                </a:solidFill>
                <a:latin typeface="Proxima Nova"/>
                <a:ea typeface="Proxima Nova"/>
                <a:cs typeface="Proxima Nova"/>
                <a:sym typeface="Proxima Nova"/>
              </a:rPr>
              <a:t>Previstas</a:t>
            </a:r>
            <a:endParaRPr sz="900">
              <a:solidFill>
                <a:srgbClr val="666666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Proxima Nova"/>
              <a:buChar char="-"/>
            </a:pPr>
            <a:r>
              <a:rPr lang="pt-BR" sz="900">
                <a:solidFill>
                  <a:srgbClr val="666666"/>
                </a:solidFill>
                <a:latin typeface="Proxima Nova"/>
                <a:ea typeface="Proxima Nova"/>
                <a:cs typeface="Proxima Nova"/>
                <a:sym typeface="Proxima Nova"/>
              </a:rPr>
              <a:t>Revisão do Playbook</a:t>
            </a:r>
            <a:endParaRPr sz="900">
              <a:solidFill>
                <a:srgbClr val="666666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42" name="Google Shape;342;p27"/>
          <p:cNvSpPr/>
          <p:nvPr/>
        </p:nvSpPr>
        <p:spPr>
          <a:xfrm>
            <a:off x="5244308" y="479331"/>
            <a:ext cx="414900" cy="448200"/>
          </a:xfrm>
          <a:prstGeom prst="roundRect">
            <a:avLst>
              <a:gd fmla="val 11208" name="adj"/>
            </a:avLst>
          </a:prstGeom>
          <a:solidFill>
            <a:srgbClr val="39980F">
              <a:alpha val="27500"/>
            </a:srgbClr>
          </a:solidFill>
          <a:ln cap="flat" cmpd="sng" w="9525">
            <a:solidFill>
              <a:srgbClr val="3998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01</a:t>
            </a:r>
            <a:endParaRPr b="1" sz="13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43" name="Google Shape;343;p27"/>
          <p:cNvSpPr/>
          <p:nvPr/>
        </p:nvSpPr>
        <p:spPr>
          <a:xfrm>
            <a:off x="5250418" y="1656998"/>
            <a:ext cx="414900" cy="448200"/>
          </a:xfrm>
          <a:prstGeom prst="roundRect">
            <a:avLst>
              <a:gd fmla="val 11208" name="adj"/>
            </a:avLst>
          </a:prstGeom>
          <a:solidFill>
            <a:srgbClr val="39980F">
              <a:alpha val="27500"/>
            </a:srgbClr>
          </a:solidFill>
          <a:ln cap="flat" cmpd="sng" w="9525">
            <a:solidFill>
              <a:srgbClr val="3998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02</a:t>
            </a:r>
            <a:endParaRPr b="1" sz="13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44" name="Google Shape;344;p27"/>
          <p:cNvSpPr/>
          <p:nvPr/>
        </p:nvSpPr>
        <p:spPr>
          <a:xfrm>
            <a:off x="5244298" y="2563363"/>
            <a:ext cx="414900" cy="448200"/>
          </a:xfrm>
          <a:prstGeom prst="roundRect">
            <a:avLst>
              <a:gd fmla="val 11208" name="adj"/>
            </a:avLst>
          </a:prstGeom>
          <a:solidFill>
            <a:srgbClr val="E52832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03</a:t>
            </a:r>
            <a:endParaRPr b="1" sz="13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45" name="Google Shape;345;p27"/>
          <p:cNvSpPr/>
          <p:nvPr/>
        </p:nvSpPr>
        <p:spPr>
          <a:xfrm>
            <a:off x="5250418" y="3112988"/>
            <a:ext cx="414900" cy="448200"/>
          </a:xfrm>
          <a:prstGeom prst="roundRect">
            <a:avLst>
              <a:gd fmla="val 11208" name="adj"/>
            </a:avLst>
          </a:prstGeom>
          <a:solidFill>
            <a:srgbClr val="09060B">
              <a:alpha val="60000"/>
            </a:srgbClr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666666"/>
                </a:solidFill>
                <a:latin typeface="Proxima Nova"/>
                <a:ea typeface="Proxima Nova"/>
                <a:cs typeface="Proxima Nova"/>
                <a:sym typeface="Proxima Nova"/>
              </a:rPr>
              <a:t>04</a:t>
            </a:r>
            <a:endParaRPr b="1" sz="1300">
              <a:solidFill>
                <a:srgbClr val="666666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46" name="Google Shape;346;p27"/>
          <p:cNvSpPr/>
          <p:nvPr/>
        </p:nvSpPr>
        <p:spPr>
          <a:xfrm>
            <a:off x="5780381" y="4179860"/>
            <a:ext cx="2163300" cy="448200"/>
          </a:xfrm>
          <a:prstGeom prst="roundRect">
            <a:avLst>
              <a:gd fmla="val 4761" name="adj"/>
            </a:avLst>
          </a:prstGeom>
          <a:solidFill>
            <a:srgbClr val="09060B">
              <a:alpha val="60000"/>
            </a:srgbClr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347" name="Google Shape;347;p27"/>
          <p:cNvSpPr txBox="1"/>
          <p:nvPr/>
        </p:nvSpPr>
        <p:spPr>
          <a:xfrm>
            <a:off x="5931541" y="4213859"/>
            <a:ext cx="1924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666666"/>
                </a:solidFill>
                <a:latin typeface="Proxima Nova"/>
                <a:ea typeface="Proxima Nova"/>
                <a:cs typeface="Proxima Nova"/>
                <a:sym typeface="Proxima Nova"/>
              </a:rPr>
              <a:t>Próximos Passos</a:t>
            </a:r>
            <a:endParaRPr b="1" sz="1300">
              <a:solidFill>
                <a:srgbClr val="666666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48" name="Google Shape;348;p27"/>
          <p:cNvSpPr/>
          <p:nvPr/>
        </p:nvSpPr>
        <p:spPr>
          <a:xfrm>
            <a:off x="5279504" y="4180081"/>
            <a:ext cx="414900" cy="448200"/>
          </a:xfrm>
          <a:prstGeom prst="roundRect">
            <a:avLst>
              <a:gd fmla="val 11208" name="adj"/>
            </a:avLst>
          </a:prstGeom>
          <a:solidFill>
            <a:srgbClr val="09060B">
              <a:alpha val="60000"/>
            </a:srgbClr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666666"/>
                </a:solidFill>
                <a:latin typeface="Proxima Nova"/>
                <a:ea typeface="Proxima Nova"/>
                <a:cs typeface="Proxima Nova"/>
                <a:sym typeface="Proxima Nova"/>
              </a:rPr>
              <a:t>05</a:t>
            </a:r>
            <a:endParaRPr b="1" sz="1300">
              <a:solidFill>
                <a:srgbClr val="666666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49" name="Google Shape;349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85778" y="625227"/>
            <a:ext cx="194121" cy="160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73381" y="2713166"/>
            <a:ext cx="160650" cy="160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27"/>
          <p:cNvPicPr preferRelativeResize="0"/>
          <p:nvPr/>
        </p:nvPicPr>
        <p:blipFill>
          <a:blip r:embed="rId5">
            <a:alphaModFix amt="50000"/>
          </a:blip>
          <a:stretch>
            <a:fillRect/>
          </a:stretch>
        </p:blipFill>
        <p:spPr>
          <a:xfrm>
            <a:off x="7573381" y="3282929"/>
            <a:ext cx="160650" cy="160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2" name="Google Shape;352;p27"/>
          <p:cNvPicPr preferRelativeResize="0"/>
          <p:nvPr/>
        </p:nvPicPr>
        <p:blipFill>
          <a:blip r:embed="rId5">
            <a:alphaModFix amt="50000"/>
          </a:blip>
          <a:stretch>
            <a:fillRect/>
          </a:stretch>
        </p:blipFill>
        <p:spPr>
          <a:xfrm>
            <a:off x="7573381" y="4325979"/>
            <a:ext cx="160650" cy="160650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27"/>
          <p:cNvSpPr txBox="1"/>
          <p:nvPr/>
        </p:nvSpPr>
        <p:spPr>
          <a:xfrm>
            <a:off x="773491" y="1672217"/>
            <a:ext cx="3382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ROPRE</a:t>
            </a:r>
            <a:endParaRPr sz="24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54" name="Google Shape;354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56640" y="1800777"/>
            <a:ext cx="194121" cy="160650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27"/>
          <p:cNvSpPr txBox="1"/>
          <p:nvPr/>
        </p:nvSpPr>
        <p:spPr>
          <a:xfrm>
            <a:off x="8393925" y="4715316"/>
            <a:ext cx="74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7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LOGO DA UNIDADE</a:t>
            </a:r>
            <a:endParaRPr b="1" sz="700">
              <a:solidFill>
                <a:srgbClr val="FFFFF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28"/>
          <p:cNvSpPr txBox="1"/>
          <p:nvPr/>
        </p:nvSpPr>
        <p:spPr>
          <a:xfrm>
            <a:off x="8393925" y="4715316"/>
            <a:ext cx="74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7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LOGO DA UNIDADE</a:t>
            </a:r>
            <a:endParaRPr b="1" sz="700">
              <a:solidFill>
                <a:srgbClr val="FFFFF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29"/>
          <p:cNvSpPr/>
          <p:nvPr/>
        </p:nvSpPr>
        <p:spPr>
          <a:xfrm>
            <a:off x="5745175" y="479112"/>
            <a:ext cx="2163300" cy="1072800"/>
          </a:xfrm>
          <a:prstGeom prst="roundRect">
            <a:avLst>
              <a:gd fmla="val 4761" name="adj"/>
            </a:avLst>
          </a:prstGeom>
          <a:solidFill>
            <a:srgbClr val="39980F">
              <a:alpha val="27500"/>
            </a:srgbClr>
          </a:solidFill>
          <a:ln cap="flat" cmpd="sng" w="9525">
            <a:solidFill>
              <a:srgbClr val="3998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366" name="Google Shape;366;p29"/>
          <p:cNvSpPr txBox="1"/>
          <p:nvPr/>
        </p:nvSpPr>
        <p:spPr>
          <a:xfrm>
            <a:off x="742507" y="2251626"/>
            <a:ext cx="3729300" cy="10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53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Entregas</a:t>
            </a:r>
            <a:endParaRPr b="1" sz="53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67" name="Google Shape;367;p29"/>
          <p:cNvSpPr txBox="1"/>
          <p:nvPr/>
        </p:nvSpPr>
        <p:spPr>
          <a:xfrm>
            <a:off x="5868031" y="513103"/>
            <a:ext cx="1153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Resultados</a:t>
            </a:r>
            <a:endParaRPr b="1" sz="13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68" name="Google Shape;368;p29"/>
          <p:cNvSpPr txBox="1"/>
          <p:nvPr/>
        </p:nvSpPr>
        <p:spPr>
          <a:xfrm>
            <a:off x="5730351" y="738112"/>
            <a:ext cx="2036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roxima Nova"/>
              <a:buChar char="-"/>
            </a:pPr>
            <a:r>
              <a:rPr lang="pt-BR" sz="9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Gerais</a:t>
            </a:r>
            <a:endParaRPr sz="9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roxima Nova"/>
              <a:buChar char="-"/>
            </a:pPr>
            <a:r>
              <a:rPr lang="pt-BR" sz="9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Por canal</a:t>
            </a:r>
            <a:endParaRPr sz="9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roxima Nova"/>
              <a:buChar char="-"/>
            </a:pPr>
            <a:r>
              <a:rPr lang="pt-BR" sz="9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Criativos vencedores</a:t>
            </a:r>
            <a:endParaRPr sz="9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roxima Nova"/>
              <a:buChar char="-"/>
            </a:pPr>
            <a:r>
              <a:rPr lang="pt-BR" sz="9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Aprendizados</a:t>
            </a:r>
            <a:endParaRPr sz="9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69" name="Google Shape;369;p29"/>
          <p:cNvSpPr/>
          <p:nvPr/>
        </p:nvSpPr>
        <p:spPr>
          <a:xfrm>
            <a:off x="5745175" y="1657000"/>
            <a:ext cx="2163300" cy="806100"/>
          </a:xfrm>
          <a:prstGeom prst="roundRect">
            <a:avLst>
              <a:gd fmla="val 4761" name="adj"/>
            </a:avLst>
          </a:prstGeom>
          <a:solidFill>
            <a:srgbClr val="39980F">
              <a:alpha val="27500"/>
            </a:srgbClr>
          </a:solidFill>
          <a:ln cap="flat" cmpd="sng" w="9525">
            <a:solidFill>
              <a:srgbClr val="3998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370" name="Google Shape;370;p29"/>
          <p:cNvSpPr txBox="1"/>
          <p:nvPr/>
        </p:nvSpPr>
        <p:spPr>
          <a:xfrm>
            <a:off x="5868031" y="1691001"/>
            <a:ext cx="1153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Objetivos</a:t>
            </a:r>
            <a:endParaRPr b="1" sz="13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71" name="Google Shape;371;p29"/>
          <p:cNvSpPr txBox="1"/>
          <p:nvPr/>
        </p:nvSpPr>
        <p:spPr>
          <a:xfrm>
            <a:off x="5725248" y="1943735"/>
            <a:ext cx="1800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roxima Nova"/>
              <a:buChar char="-"/>
            </a:pPr>
            <a:r>
              <a:rPr lang="pt-BR" sz="9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Avanço das OKRs</a:t>
            </a:r>
            <a:endParaRPr sz="9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roxima Nova"/>
              <a:buChar char="-"/>
            </a:pPr>
            <a:r>
              <a:rPr lang="pt-BR" sz="9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Step do Projeto</a:t>
            </a:r>
            <a:endParaRPr sz="9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72" name="Google Shape;372;p29"/>
          <p:cNvSpPr/>
          <p:nvPr/>
        </p:nvSpPr>
        <p:spPr>
          <a:xfrm>
            <a:off x="5745175" y="2563142"/>
            <a:ext cx="2163300" cy="448200"/>
          </a:xfrm>
          <a:prstGeom prst="roundRect">
            <a:avLst>
              <a:gd fmla="val 4761" name="adj"/>
            </a:avLst>
          </a:prstGeom>
          <a:solidFill>
            <a:srgbClr val="39980F">
              <a:alpha val="27500"/>
            </a:srgbClr>
          </a:solidFill>
          <a:ln cap="flat" cmpd="sng" w="9525">
            <a:solidFill>
              <a:srgbClr val="3998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</a:endParaRPr>
          </a:p>
        </p:txBody>
      </p:sp>
      <p:sp>
        <p:nvSpPr>
          <p:cNvPr id="373" name="Google Shape;373;p29"/>
          <p:cNvSpPr txBox="1"/>
          <p:nvPr/>
        </p:nvSpPr>
        <p:spPr>
          <a:xfrm>
            <a:off x="5896336" y="2597141"/>
            <a:ext cx="1924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Premissas e Riscos</a:t>
            </a:r>
            <a:endParaRPr b="1" sz="13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74" name="Google Shape;374;p29"/>
          <p:cNvSpPr/>
          <p:nvPr/>
        </p:nvSpPr>
        <p:spPr>
          <a:xfrm>
            <a:off x="5758472" y="3123866"/>
            <a:ext cx="2163300" cy="932700"/>
          </a:xfrm>
          <a:prstGeom prst="roundRect">
            <a:avLst>
              <a:gd fmla="val 4761" name="adj"/>
            </a:avLst>
          </a:prstGeom>
          <a:solidFill>
            <a:srgbClr val="ED1B18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375" name="Google Shape;375;p29"/>
          <p:cNvSpPr txBox="1"/>
          <p:nvPr/>
        </p:nvSpPr>
        <p:spPr>
          <a:xfrm>
            <a:off x="5872527" y="3157861"/>
            <a:ext cx="1400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Entregas</a:t>
            </a:r>
            <a:endParaRPr b="1" sz="13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76" name="Google Shape;376;p29"/>
          <p:cNvSpPr txBox="1"/>
          <p:nvPr/>
        </p:nvSpPr>
        <p:spPr>
          <a:xfrm>
            <a:off x="5735388" y="3410608"/>
            <a:ext cx="17958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roxima Nova"/>
              <a:buChar char="-"/>
            </a:pPr>
            <a:r>
              <a:rPr lang="pt-BR" sz="9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Realizadas</a:t>
            </a:r>
            <a:endParaRPr sz="9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roxima Nova"/>
              <a:buChar char="-"/>
            </a:pPr>
            <a:r>
              <a:rPr lang="pt-BR" sz="9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Previstas</a:t>
            </a:r>
            <a:endParaRPr sz="9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roxima Nova"/>
              <a:buChar char="-"/>
            </a:pPr>
            <a:r>
              <a:rPr lang="pt-BR" sz="9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Revisão do Playbook</a:t>
            </a:r>
            <a:endParaRPr sz="9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77" name="Google Shape;377;p29"/>
          <p:cNvSpPr/>
          <p:nvPr/>
        </p:nvSpPr>
        <p:spPr>
          <a:xfrm>
            <a:off x="5244308" y="479331"/>
            <a:ext cx="414900" cy="448200"/>
          </a:xfrm>
          <a:prstGeom prst="roundRect">
            <a:avLst>
              <a:gd fmla="val 11208" name="adj"/>
            </a:avLst>
          </a:prstGeom>
          <a:solidFill>
            <a:srgbClr val="39980F">
              <a:alpha val="27500"/>
            </a:srgbClr>
          </a:solidFill>
          <a:ln cap="flat" cmpd="sng" w="9525">
            <a:solidFill>
              <a:srgbClr val="3998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01</a:t>
            </a:r>
            <a:endParaRPr b="1" sz="13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78" name="Google Shape;378;p29"/>
          <p:cNvSpPr/>
          <p:nvPr/>
        </p:nvSpPr>
        <p:spPr>
          <a:xfrm>
            <a:off x="5250418" y="1656998"/>
            <a:ext cx="414900" cy="448200"/>
          </a:xfrm>
          <a:prstGeom prst="roundRect">
            <a:avLst>
              <a:gd fmla="val 11208" name="adj"/>
            </a:avLst>
          </a:prstGeom>
          <a:solidFill>
            <a:srgbClr val="39980F">
              <a:alpha val="27500"/>
            </a:srgbClr>
          </a:solidFill>
          <a:ln cap="flat" cmpd="sng" w="9525">
            <a:solidFill>
              <a:srgbClr val="3998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02</a:t>
            </a:r>
            <a:endParaRPr b="1" sz="13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79" name="Google Shape;379;p29"/>
          <p:cNvSpPr/>
          <p:nvPr/>
        </p:nvSpPr>
        <p:spPr>
          <a:xfrm>
            <a:off x="5244298" y="2563363"/>
            <a:ext cx="414900" cy="448200"/>
          </a:xfrm>
          <a:prstGeom prst="roundRect">
            <a:avLst>
              <a:gd fmla="val 11208" name="adj"/>
            </a:avLst>
          </a:prstGeom>
          <a:solidFill>
            <a:srgbClr val="39980F">
              <a:alpha val="27500"/>
            </a:srgbClr>
          </a:solidFill>
          <a:ln cap="flat" cmpd="sng" w="9525">
            <a:solidFill>
              <a:srgbClr val="3998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03</a:t>
            </a:r>
            <a:endParaRPr b="1" sz="13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80" name="Google Shape;380;p29"/>
          <p:cNvSpPr/>
          <p:nvPr/>
        </p:nvSpPr>
        <p:spPr>
          <a:xfrm>
            <a:off x="5250418" y="3112988"/>
            <a:ext cx="414900" cy="448200"/>
          </a:xfrm>
          <a:prstGeom prst="roundRect">
            <a:avLst>
              <a:gd fmla="val 11208" name="adj"/>
            </a:avLst>
          </a:prstGeom>
          <a:solidFill>
            <a:srgbClr val="ED1B18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04</a:t>
            </a:r>
            <a:endParaRPr b="1" sz="13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81" name="Google Shape;381;p29"/>
          <p:cNvSpPr/>
          <p:nvPr/>
        </p:nvSpPr>
        <p:spPr>
          <a:xfrm>
            <a:off x="5780381" y="4179860"/>
            <a:ext cx="2163300" cy="448200"/>
          </a:xfrm>
          <a:prstGeom prst="roundRect">
            <a:avLst>
              <a:gd fmla="val 4761" name="adj"/>
            </a:avLst>
          </a:prstGeom>
          <a:solidFill>
            <a:srgbClr val="09060B">
              <a:alpha val="60000"/>
            </a:srgbClr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382" name="Google Shape;382;p29"/>
          <p:cNvSpPr txBox="1"/>
          <p:nvPr/>
        </p:nvSpPr>
        <p:spPr>
          <a:xfrm>
            <a:off x="5931541" y="4213859"/>
            <a:ext cx="1924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666666"/>
                </a:solidFill>
                <a:latin typeface="Proxima Nova"/>
                <a:ea typeface="Proxima Nova"/>
                <a:cs typeface="Proxima Nova"/>
                <a:sym typeface="Proxima Nova"/>
              </a:rPr>
              <a:t>Próximos Passos</a:t>
            </a:r>
            <a:endParaRPr b="1" sz="1300">
              <a:solidFill>
                <a:srgbClr val="666666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83" name="Google Shape;383;p29"/>
          <p:cNvSpPr/>
          <p:nvPr/>
        </p:nvSpPr>
        <p:spPr>
          <a:xfrm>
            <a:off x="5279504" y="4180081"/>
            <a:ext cx="414900" cy="448200"/>
          </a:xfrm>
          <a:prstGeom prst="roundRect">
            <a:avLst>
              <a:gd fmla="val 11208" name="adj"/>
            </a:avLst>
          </a:prstGeom>
          <a:solidFill>
            <a:srgbClr val="09060B">
              <a:alpha val="60000"/>
            </a:srgbClr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666666"/>
                </a:solidFill>
                <a:latin typeface="Proxima Nova"/>
                <a:ea typeface="Proxima Nova"/>
                <a:cs typeface="Proxima Nova"/>
                <a:sym typeface="Proxima Nova"/>
              </a:rPr>
              <a:t>05</a:t>
            </a:r>
            <a:endParaRPr b="1" sz="1300">
              <a:solidFill>
                <a:srgbClr val="666666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84" name="Google Shape;384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85778" y="625227"/>
            <a:ext cx="194121" cy="160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5" name="Google Shape;385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73381" y="3282929"/>
            <a:ext cx="160650" cy="160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29"/>
          <p:cNvPicPr preferRelativeResize="0"/>
          <p:nvPr/>
        </p:nvPicPr>
        <p:blipFill>
          <a:blip r:embed="rId5">
            <a:alphaModFix amt="50000"/>
          </a:blip>
          <a:stretch>
            <a:fillRect/>
          </a:stretch>
        </p:blipFill>
        <p:spPr>
          <a:xfrm>
            <a:off x="7573381" y="4325979"/>
            <a:ext cx="160650" cy="160650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29"/>
          <p:cNvSpPr txBox="1"/>
          <p:nvPr/>
        </p:nvSpPr>
        <p:spPr>
          <a:xfrm>
            <a:off x="773491" y="1977017"/>
            <a:ext cx="3382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ROPRE</a:t>
            </a:r>
            <a:endParaRPr sz="24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88" name="Google Shape;388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56640" y="1800777"/>
            <a:ext cx="194121" cy="160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9" name="Google Shape;389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56640" y="2713165"/>
            <a:ext cx="194121" cy="160650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29"/>
          <p:cNvSpPr txBox="1"/>
          <p:nvPr/>
        </p:nvSpPr>
        <p:spPr>
          <a:xfrm>
            <a:off x="8393925" y="4715316"/>
            <a:ext cx="74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7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LOGO DA UNIDADE</a:t>
            </a:r>
            <a:endParaRPr b="1" sz="700">
              <a:solidFill>
                <a:srgbClr val="FFFFF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30"/>
          <p:cNvSpPr txBox="1"/>
          <p:nvPr/>
        </p:nvSpPr>
        <p:spPr>
          <a:xfrm>
            <a:off x="8393925" y="4715316"/>
            <a:ext cx="74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7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LOGO DA UNIDADE</a:t>
            </a:r>
            <a:endParaRPr b="1" sz="700">
              <a:solidFill>
                <a:srgbClr val="FFFFF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31"/>
          <p:cNvSpPr/>
          <p:nvPr/>
        </p:nvSpPr>
        <p:spPr>
          <a:xfrm>
            <a:off x="5745175" y="479112"/>
            <a:ext cx="2163300" cy="1072800"/>
          </a:xfrm>
          <a:prstGeom prst="roundRect">
            <a:avLst>
              <a:gd fmla="val 4761" name="adj"/>
            </a:avLst>
          </a:prstGeom>
          <a:solidFill>
            <a:srgbClr val="39980F">
              <a:alpha val="27500"/>
            </a:srgbClr>
          </a:solidFill>
          <a:ln cap="flat" cmpd="sng" w="9525">
            <a:solidFill>
              <a:srgbClr val="3998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401" name="Google Shape;401;p31"/>
          <p:cNvSpPr txBox="1"/>
          <p:nvPr/>
        </p:nvSpPr>
        <p:spPr>
          <a:xfrm>
            <a:off x="742507" y="2023026"/>
            <a:ext cx="3729300" cy="149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53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Próximos Passos</a:t>
            </a:r>
            <a:endParaRPr b="1" sz="53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02" name="Google Shape;402;p31"/>
          <p:cNvSpPr txBox="1"/>
          <p:nvPr/>
        </p:nvSpPr>
        <p:spPr>
          <a:xfrm>
            <a:off x="5868031" y="513103"/>
            <a:ext cx="1153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Resultados</a:t>
            </a:r>
            <a:endParaRPr b="1" sz="13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03" name="Google Shape;403;p31"/>
          <p:cNvSpPr txBox="1"/>
          <p:nvPr/>
        </p:nvSpPr>
        <p:spPr>
          <a:xfrm>
            <a:off x="5730351" y="738112"/>
            <a:ext cx="2036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roxima Nova"/>
              <a:buChar char="-"/>
            </a:pPr>
            <a:r>
              <a:rPr lang="pt-BR" sz="9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Gerais</a:t>
            </a:r>
            <a:endParaRPr sz="9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roxima Nova"/>
              <a:buChar char="-"/>
            </a:pPr>
            <a:r>
              <a:rPr lang="pt-BR" sz="9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Por canal</a:t>
            </a:r>
            <a:endParaRPr sz="9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roxima Nova"/>
              <a:buChar char="-"/>
            </a:pPr>
            <a:r>
              <a:rPr lang="pt-BR" sz="9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Criativos vencedores</a:t>
            </a:r>
            <a:endParaRPr sz="9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roxima Nova"/>
              <a:buChar char="-"/>
            </a:pPr>
            <a:r>
              <a:rPr lang="pt-BR" sz="9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Aprendizados</a:t>
            </a:r>
            <a:endParaRPr sz="9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04" name="Google Shape;404;p31"/>
          <p:cNvSpPr/>
          <p:nvPr/>
        </p:nvSpPr>
        <p:spPr>
          <a:xfrm>
            <a:off x="5745175" y="1657000"/>
            <a:ext cx="2163300" cy="806100"/>
          </a:xfrm>
          <a:prstGeom prst="roundRect">
            <a:avLst>
              <a:gd fmla="val 4761" name="adj"/>
            </a:avLst>
          </a:prstGeom>
          <a:solidFill>
            <a:srgbClr val="39980F">
              <a:alpha val="27500"/>
            </a:srgbClr>
          </a:solidFill>
          <a:ln cap="flat" cmpd="sng" w="9525">
            <a:solidFill>
              <a:srgbClr val="3998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405" name="Google Shape;405;p31"/>
          <p:cNvSpPr txBox="1"/>
          <p:nvPr/>
        </p:nvSpPr>
        <p:spPr>
          <a:xfrm>
            <a:off x="5868031" y="1691001"/>
            <a:ext cx="1153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Objetivos</a:t>
            </a:r>
            <a:endParaRPr b="1" sz="13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06" name="Google Shape;406;p31"/>
          <p:cNvSpPr txBox="1"/>
          <p:nvPr/>
        </p:nvSpPr>
        <p:spPr>
          <a:xfrm>
            <a:off x="5725248" y="1943735"/>
            <a:ext cx="1800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roxima Nova"/>
              <a:buChar char="-"/>
            </a:pPr>
            <a:r>
              <a:rPr lang="pt-BR" sz="9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Avanço das OKRs</a:t>
            </a:r>
            <a:endParaRPr sz="9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roxima Nova"/>
              <a:buChar char="-"/>
            </a:pPr>
            <a:r>
              <a:rPr lang="pt-BR" sz="9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Step do Projeto</a:t>
            </a:r>
            <a:endParaRPr sz="9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07" name="Google Shape;407;p31"/>
          <p:cNvSpPr/>
          <p:nvPr/>
        </p:nvSpPr>
        <p:spPr>
          <a:xfrm>
            <a:off x="5745175" y="2563142"/>
            <a:ext cx="2163300" cy="448200"/>
          </a:xfrm>
          <a:prstGeom prst="roundRect">
            <a:avLst>
              <a:gd fmla="val 4761" name="adj"/>
            </a:avLst>
          </a:prstGeom>
          <a:solidFill>
            <a:srgbClr val="39980F">
              <a:alpha val="27500"/>
            </a:srgbClr>
          </a:solidFill>
          <a:ln cap="flat" cmpd="sng" w="9525">
            <a:solidFill>
              <a:srgbClr val="3998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</a:endParaRPr>
          </a:p>
        </p:txBody>
      </p:sp>
      <p:sp>
        <p:nvSpPr>
          <p:cNvPr id="408" name="Google Shape;408;p31"/>
          <p:cNvSpPr txBox="1"/>
          <p:nvPr/>
        </p:nvSpPr>
        <p:spPr>
          <a:xfrm>
            <a:off x="5896336" y="2597141"/>
            <a:ext cx="1924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Premissas e Riscos</a:t>
            </a:r>
            <a:endParaRPr b="1" sz="13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09" name="Google Shape;409;p31"/>
          <p:cNvSpPr/>
          <p:nvPr/>
        </p:nvSpPr>
        <p:spPr>
          <a:xfrm>
            <a:off x="5758472" y="3123866"/>
            <a:ext cx="2163300" cy="932700"/>
          </a:xfrm>
          <a:prstGeom prst="roundRect">
            <a:avLst>
              <a:gd fmla="val 4761" name="adj"/>
            </a:avLst>
          </a:prstGeom>
          <a:solidFill>
            <a:srgbClr val="39980F">
              <a:alpha val="27500"/>
            </a:srgbClr>
          </a:solidFill>
          <a:ln cap="flat" cmpd="sng" w="9525">
            <a:solidFill>
              <a:srgbClr val="3998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410" name="Google Shape;410;p31"/>
          <p:cNvSpPr txBox="1"/>
          <p:nvPr/>
        </p:nvSpPr>
        <p:spPr>
          <a:xfrm>
            <a:off x="5872527" y="3157861"/>
            <a:ext cx="1400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Entregas</a:t>
            </a:r>
            <a:endParaRPr b="1" sz="13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11" name="Google Shape;411;p31"/>
          <p:cNvSpPr txBox="1"/>
          <p:nvPr/>
        </p:nvSpPr>
        <p:spPr>
          <a:xfrm>
            <a:off x="5735388" y="3410608"/>
            <a:ext cx="17958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roxima Nova"/>
              <a:buChar char="-"/>
            </a:pPr>
            <a:r>
              <a:rPr lang="pt-BR" sz="9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Realizadas</a:t>
            </a:r>
            <a:endParaRPr sz="9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roxima Nova"/>
              <a:buChar char="-"/>
            </a:pPr>
            <a:r>
              <a:rPr lang="pt-BR" sz="9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Previstas</a:t>
            </a:r>
            <a:endParaRPr sz="9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roxima Nova"/>
              <a:buChar char="-"/>
            </a:pPr>
            <a:r>
              <a:rPr lang="pt-BR" sz="9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Revisão do Playbook</a:t>
            </a:r>
            <a:endParaRPr sz="9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12" name="Google Shape;412;p31"/>
          <p:cNvSpPr/>
          <p:nvPr/>
        </p:nvSpPr>
        <p:spPr>
          <a:xfrm>
            <a:off x="5244308" y="479331"/>
            <a:ext cx="414900" cy="448200"/>
          </a:xfrm>
          <a:prstGeom prst="roundRect">
            <a:avLst>
              <a:gd fmla="val 11208" name="adj"/>
            </a:avLst>
          </a:prstGeom>
          <a:solidFill>
            <a:srgbClr val="39980F">
              <a:alpha val="27500"/>
            </a:srgbClr>
          </a:solidFill>
          <a:ln cap="flat" cmpd="sng" w="9525">
            <a:solidFill>
              <a:srgbClr val="3998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01</a:t>
            </a:r>
            <a:endParaRPr b="1" sz="13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13" name="Google Shape;413;p31"/>
          <p:cNvSpPr/>
          <p:nvPr/>
        </p:nvSpPr>
        <p:spPr>
          <a:xfrm>
            <a:off x="5250418" y="1656998"/>
            <a:ext cx="414900" cy="448200"/>
          </a:xfrm>
          <a:prstGeom prst="roundRect">
            <a:avLst>
              <a:gd fmla="val 11208" name="adj"/>
            </a:avLst>
          </a:prstGeom>
          <a:solidFill>
            <a:srgbClr val="39980F">
              <a:alpha val="27500"/>
            </a:srgbClr>
          </a:solidFill>
          <a:ln cap="flat" cmpd="sng" w="9525">
            <a:solidFill>
              <a:srgbClr val="3998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02</a:t>
            </a:r>
            <a:endParaRPr b="1" sz="13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14" name="Google Shape;414;p31"/>
          <p:cNvSpPr/>
          <p:nvPr/>
        </p:nvSpPr>
        <p:spPr>
          <a:xfrm>
            <a:off x="5244298" y="2563363"/>
            <a:ext cx="414900" cy="448200"/>
          </a:xfrm>
          <a:prstGeom prst="roundRect">
            <a:avLst>
              <a:gd fmla="val 11208" name="adj"/>
            </a:avLst>
          </a:prstGeom>
          <a:solidFill>
            <a:srgbClr val="39980F">
              <a:alpha val="27500"/>
            </a:srgbClr>
          </a:solidFill>
          <a:ln cap="flat" cmpd="sng" w="9525">
            <a:solidFill>
              <a:srgbClr val="3998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03</a:t>
            </a:r>
            <a:endParaRPr b="1" sz="13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15" name="Google Shape;415;p31"/>
          <p:cNvSpPr/>
          <p:nvPr/>
        </p:nvSpPr>
        <p:spPr>
          <a:xfrm>
            <a:off x="5250418" y="3112988"/>
            <a:ext cx="414900" cy="448200"/>
          </a:xfrm>
          <a:prstGeom prst="roundRect">
            <a:avLst>
              <a:gd fmla="val 11208" name="adj"/>
            </a:avLst>
          </a:prstGeom>
          <a:solidFill>
            <a:srgbClr val="39980F">
              <a:alpha val="27500"/>
            </a:srgbClr>
          </a:solidFill>
          <a:ln cap="flat" cmpd="sng" w="9525">
            <a:solidFill>
              <a:srgbClr val="3998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04</a:t>
            </a:r>
            <a:endParaRPr b="1" sz="13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16" name="Google Shape;416;p31"/>
          <p:cNvSpPr/>
          <p:nvPr/>
        </p:nvSpPr>
        <p:spPr>
          <a:xfrm>
            <a:off x="5780381" y="4179860"/>
            <a:ext cx="2163300" cy="448200"/>
          </a:xfrm>
          <a:prstGeom prst="roundRect">
            <a:avLst>
              <a:gd fmla="val 4761" name="adj"/>
            </a:avLst>
          </a:prstGeom>
          <a:solidFill>
            <a:srgbClr val="E52832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</a:endParaRPr>
          </a:p>
        </p:txBody>
      </p:sp>
      <p:sp>
        <p:nvSpPr>
          <p:cNvPr id="417" name="Google Shape;417;p31"/>
          <p:cNvSpPr txBox="1"/>
          <p:nvPr/>
        </p:nvSpPr>
        <p:spPr>
          <a:xfrm>
            <a:off x="5931541" y="4213859"/>
            <a:ext cx="1924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Próximos Passos</a:t>
            </a:r>
            <a:endParaRPr b="1" sz="13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18" name="Google Shape;418;p31"/>
          <p:cNvSpPr/>
          <p:nvPr/>
        </p:nvSpPr>
        <p:spPr>
          <a:xfrm>
            <a:off x="5279504" y="4180081"/>
            <a:ext cx="414900" cy="448200"/>
          </a:xfrm>
          <a:prstGeom prst="roundRect">
            <a:avLst>
              <a:gd fmla="val 11208" name="adj"/>
            </a:avLst>
          </a:prstGeom>
          <a:solidFill>
            <a:srgbClr val="E52832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05</a:t>
            </a:r>
            <a:endParaRPr b="1" sz="13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419" name="Google Shape;419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85778" y="625227"/>
            <a:ext cx="194121" cy="160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0" name="Google Shape;420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73381" y="4325979"/>
            <a:ext cx="160650" cy="160650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p31"/>
          <p:cNvSpPr txBox="1"/>
          <p:nvPr/>
        </p:nvSpPr>
        <p:spPr>
          <a:xfrm>
            <a:off x="773491" y="1596017"/>
            <a:ext cx="3382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ROPRE</a:t>
            </a:r>
            <a:endParaRPr sz="24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422" name="Google Shape;422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56640" y="1800777"/>
            <a:ext cx="194121" cy="160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3" name="Google Shape;423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56640" y="2713165"/>
            <a:ext cx="194121" cy="160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4" name="Google Shape;424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01265" y="3264626"/>
            <a:ext cx="194121" cy="160650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31"/>
          <p:cNvSpPr txBox="1"/>
          <p:nvPr/>
        </p:nvSpPr>
        <p:spPr>
          <a:xfrm>
            <a:off x="8393925" y="4715316"/>
            <a:ext cx="74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7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LOGO DA UNIDADE</a:t>
            </a:r>
            <a:endParaRPr b="1" sz="700">
              <a:solidFill>
                <a:srgbClr val="FFFFF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32"/>
          <p:cNvSpPr txBox="1"/>
          <p:nvPr/>
        </p:nvSpPr>
        <p:spPr>
          <a:xfrm>
            <a:off x="659754" y="486425"/>
            <a:ext cx="6952500" cy="56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 que será feito em Setembro?</a:t>
            </a:r>
            <a:endParaRPr b="1" sz="2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1" name="Google Shape;431;p32"/>
          <p:cNvSpPr txBox="1"/>
          <p:nvPr/>
        </p:nvSpPr>
        <p:spPr>
          <a:xfrm>
            <a:off x="705490" y="1172245"/>
            <a:ext cx="4567500" cy="27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01/09/24 - Criativos campanha de xxxxxx</a:t>
            </a:r>
            <a:endParaRPr sz="1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01/09/24 - Criativos campanha de xxxxxx</a:t>
            </a:r>
            <a:endParaRPr sz="1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01/09/24 - Criativos campanha de xxxxxx</a:t>
            </a:r>
            <a:endParaRPr sz="1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01/09/24 - Criativos campanha de xxxxxx</a:t>
            </a:r>
            <a:endParaRPr sz="1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01/09/24 - Criativos campanha de xxxxxx</a:t>
            </a:r>
            <a:endParaRPr sz="1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01/09/24 - Criativos campanha de xxxxxx</a:t>
            </a:r>
            <a:endParaRPr sz="1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01/09/24 - Criativos campanha de xxxxxx</a:t>
            </a:r>
            <a:endParaRPr sz="1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01/09/24 - Criativos campanha de xxxxxx</a:t>
            </a:r>
            <a:endParaRPr sz="1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2" name="Google Shape;432;p32"/>
          <p:cNvSpPr txBox="1"/>
          <p:nvPr/>
        </p:nvSpPr>
        <p:spPr>
          <a:xfrm>
            <a:off x="8393925" y="4715316"/>
            <a:ext cx="74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7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LOGO DA UNIDADE</a:t>
            </a:r>
            <a:endParaRPr b="1" sz="700">
              <a:solidFill>
                <a:srgbClr val="FFFFF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33"/>
          <p:cNvSpPr txBox="1"/>
          <p:nvPr/>
        </p:nvSpPr>
        <p:spPr>
          <a:xfrm>
            <a:off x="8393925" y="4715316"/>
            <a:ext cx="74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7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LOGO DA UNIDADE</a:t>
            </a:r>
            <a:endParaRPr b="1" sz="700">
              <a:solidFill>
                <a:srgbClr val="FFFFF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2" name="Google Shape;442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79652" y="3121090"/>
            <a:ext cx="447924" cy="447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443" name="Google Shape;443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6737" y="374488"/>
            <a:ext cx="413450" cy="413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4" name="Google Shape;444;p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88000" y="377575"/>
            <a:ext cx="368525" cy="36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5" name="Google Shape;445;p3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694537" y="355100"/>
            <a:ext cx="413450" cy="413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6" name="Google Shape;446;p3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01025" y="3138325"/>
            <a:ext cx="368525" cy="36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7" name="Google Shape;447;p3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487075" y="3161251"/>
            <a:ext cx="368525" cy="36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8" name="Google Shape;448;p3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29875" y="396950"/>
            <a:ext cx="413450" cy="413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9" name="Google Shape;449;p34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382175" y="419425"/>
            <a:ext cx="413450" cy="413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0" name="Google Shape;450;p34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4971500" y="353350"/>
            <a:ext cx="455725" cy="455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1" name="Google Shape;451;p34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5603100" y="353350"/>
            <a:ext cx="455725" cy="455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2" name="Google Shape;452;p34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6178775" y="353350"/>
            <a:ext cx="455725" cy="455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3" name="Google Shape;453;p34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6705550" y="353350"/>
            <a:ext cx="455725" cy="455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4" name="Google Shape;454;p34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7316100" y="265725"/>
            <a:ext cx="522225" cy="522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5" name="Google Shape;455;p34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8017650" y="372813"/>
            <a:ext cx="455725" cy="455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6" name="Google Shape;456;p34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974938" y="3132062"/>
            <a:ext cx="368525" cy="36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7" name="Google Shape;457;p34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1029988" y="984200"/>
            <a:ext cx="368525" cy="36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8" name="Google Shape;458;p34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1590600" y="999489"/>
            <a:ext cx="455725" cy="455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34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2267125" y="999500"/>
            <a:ext cx="413450" cy="413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0" name="Google Shape;460;p34"/>
          <p:cNvPicPr preferRelativeResize="0"/>
          <p:nvPr/>
        </p:nvPicPr>
        <p:blipFill>
          <a:blip r:embed="rId21">
            <a:alphaModFix/>
          </a:blip>
          <a:stretch>
            <a:fillRect/>
          </a:stretch>
        </p:blipFill>
        <p:spPr>
          <a:xfrm>
            <a:off x="2901375" y="999499"/>
            <a:ext cx="455725" cy="455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1" name="Google Shape;461;p34"/>
          <p:cNvPicPr preferRelativeResize="0"/>
          <p:nvPr/>
        </p:nvPicPr>
        <p:blipFill>
          <a:blip r:embed="rId22">
            <a:alphaModFix/>
          </a:blip>
          <a:stretch>
            <a:fillRect/>
          </a:stretch>
        </p:blipFill>
        <p:spPr>
          <a:xfrm>
            <a:off x="3611600" y="999489"/>
            <a:ext cx="413450" cy="413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2" name="Google Shape;462;p34"/>
          <p:cNvPicPr preferRelativeResize="0"/>
          <p:nvPr/>
        </p:nvPicPr>
        <p:blipFill>
          <a:blip r:embed="rId23">
            <a:alphaModFix/>
          </a:blip>
          <a:stretch>
            <a:fillRect/>
          </a:stretch>
        </p:blipFill>
        <p:spPr>
          <a:xfrm>
            <a:off x="4349300" y="1043098"/>
            <a:ext cx="413450" cy="413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3" name="Google Shape;463;p34"/>
          <p:cNvPicPr preferRelativeResize="0"/>
          <p:nvPr/>
        </p:nvPicPr>
        <p:blipFill>
          <a:blip r:embed="rId24">
            <a:alphaModFix/>
          </a:blip>
          <a:stretch>
            <a:fillRect/>
          </a:stretch>
        </p:blipFill>
        <p:spPr>
          <a:xfrm>
            <a:off x="5087000" y="999489"/>
            <a:ext cx="455725" cy="455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4" name="Google Shape;464;p34"/>
          <p:cNvPicPr preferRelativeResize="0"/>
          <p:nvPr/>
        </p:nvPicPr>
        <p:blipFill>
          <a:blip r:embed="rId25">
            <a:alphaModFix/>
          </a:blip>
          <a:stretch>
            <a:fillRect/>
          </a:stretch>
        </p:blipFill>
        <p:spPr>
          <a:xfrm>
            <a:off x="6099331" y="999499"/>
            <a:ext cx="447913" cy="447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5" name="Google Shape;465;p34"/>
          <p:cNvPicPr preferRelativeResize="0"/>
          <p:nvPr/>
        </p:nvPicPr>
        <p:blipFill>
          <a:blip r:embed="rId26">
            <a:alphaModFix/>
          </a:blip>
          <a:stretch>
            <a:fillRect/>
          </a:stretch>
        </p:blipFill>
        <p:spPr>
          <a:xfrm>
            <a:off x="5719550" y="1007330"/>
            <a:ext cx="447913" cy="447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6" name="Google Shape;466;p34"/>
          <p:cNvPicPr preferRelativeResize="0"/>
          <p:nvPr/>
        </p:nvPicPr>
        <p:blipFill>
          <a:blip r:embed="rId27">
            <a:alphaModFix/>
          </a:blip>
          <a:stretch>
            <a:fillRect/>
          </a:stretch>
        </p:blipFill>
        <p:spPr>
          <a:xfrm>
            <a:off x="6673625" y="1021953"/>
            <a:ext cx="455725" cy="455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7" name="Google Shape;467;p34"/>
          <p:cNvPicPr preferRelativeResize="0"/>
          <p:nvPr/>
        </p:nvPicPr>
        <p:blipFill>
          <a:blip r:embed="rId28">
            <a:alphaModFix/>
          </a:blip>
          <a:stretch>
            <a:fillRect/>
          </a:stretch>
        </p:blipFill>
        <p:spPr>
          <a:xfrm>
            <a:off x="7353250" y="1007313"/>
            <a:ext cx="447924" cy="447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468" name="Google Shape;468;p34"/>
          <p:cNvPicPr preferRelativeResize="0"/>
          <p:nvPr/>
        </p:nvPicPr>
        <p:blipFill>
          <a:blip r:embed="rId29">
            <a:alphaModFix/>
          </a:blip>
          <a:stretch>
            <a:fillRect/>
          </a:stretch>
        </p:blipFill>
        <p:spPr>
          <a:xfrm>
            <a:off x="8025075" y="999478"/>
            <a:ext cx="447924" cy="447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469" name="Google Shape;469;p34"/>
          <p:cNvPicPr preferRelativeResize="0"/>
          <p:nvPr/>
        </p:nvPicPr>
        <p:blipFill>
          <a:blip r:embed="rId30">
            <a:alphaModFix/>
          </a:blip>
          <a:stretch>
            <a:fillRect/>
          </a:stretch>
        </p:blipFill>
        <p:spPr>
          <a:xfrm>
            <a:off x="355600" y="1666775"/>
            <a:ext cx="455725" cy="455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0" name="Google Shape;470;p34"/>
          <p:cNvPicPr preferRelativeResize="0"/>
          <p:nvPr/>
        </p:nvPicPr>
        <p:blipFill>
          <a:blip r:embed="rId31">
            <a:alphaModFix/>
          </a:blip>
          <a:stretch>
            <a:fillRect/>
          </a:stretch>
        </p:blipFill>
        <p:spPr>
          <a:xfrm>
            <a:off x="974938" y="1600275"/>
            <a:ext cx="522225" cy="522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1" name="Google Shape;471;p34"/>
          <p:cNvPicPr preferRelativeResize="0"/>
          <p:nvPr/>
        </p:nvPicPr>
        <p:blipFill>
          <a:blip r:embed="rId32">
            <a:alphaModFix/>
          </a:blip>
          <a:stretch>
            <a:fillRect/>
          </a:stretch>
        </p:blipFill>
        <p:spPr>
          <a:xfrm>
            <a:off x="348925" y="923975"/>
            <a:ext cx="488975" cy="488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2" name="Google Shape;472;p34"/>
          <p:cNvPicPr preferRelativeResize="0"/>
          <p:nvPr/>
        </p:nvPicPr>
        <p:blipFill>
          <a:blip r:embed="rId33">
            <a:alphaModFix/>
          </a:blip>
          <a:stretch>
            <a:fillRect/>
          </a:stretch>
        </p:blipFill>
        <p:spPr>
          <a:xfrm>
            <a:off x="2346625" y="1568800"/>
            <a:ext cx="586950" cy="586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3" name="Google Shape;473;p34"/>
          <p:cNvPicPr preferRelativeResize="0"/>
          <p:nvPr/>
        </p:nvPicPr>
        <p:blipFill>
          <a:blip r:embed="rId34">
            <a:alphaModFix/>
          </a:blip>
          <a:stretch>
            <a:fillRect/>
          </a:stretch>
        </p:blipFill>
        <p:spPr>
          <a:xfrm>
            <a:off x="501250" y="4167873"/>
            <a:ext cx="521828" cy="521828"/>
          </a:xfrm>
          <a:prstGeom prst="rect">
            <a:avLst/>
          </a:prstGeom>
          <a:noFill/>
          <a:ln>
            <a:noFill/>
          </a:ln>
        </p:spPr>
      </p:pic>
      <p:pic>
        <p:nvPicPr>
          <p:cNvPr id="474" name="Google Shape;474;p34"/>
          <p:cNvPicPr preferRelativeResize="0"/>
          <p:nvPr/>
        </p:nvPicPr>
        <p:blipFill>
          <a:blip r:embed="rId35">
            <a:alphaModFix/>
          </a:blip>
          <a:stretch>
            <a:fillRect/>
          </a:stretch>
        </p:blipFill>
        <p:spPr>
          <a:xfrm>
            <a:off x="3155875" y="1666775"/>
            <a:ext cx="455725" cy="455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5" name="Google Shape;475;p34"/>
          <p:cNvPicPr preferRelativeResize="0"/>
          <p:nvPr/>
        </p:nvPicPr>
        <p:blipFill>
          <a:blip r:embed="rId36">
            <a:alphaModFix/>
          </a:blip>
          <a:stretch>
            <a:fillRect/>
          </a:stretch>
        </p:blipFill>
        <p:spPr>
          <a:xfrm>
            <a:off x="3783050" y="1666775"/>
            <a:ext cx="455725" cy="455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6" name="Google Shape;476;p34"/>
          <p:cNvPicPr preferRelativeResize="0"/>
          <p:nvPr/>
        </p:nvPicPr>
        <p:blipFill>
          <a:blip r:embed="rId37">
            <a:alphaModFix/>
          </a:blip>
          <a:stretch>
            <a:fillRect/>
          </a:stretch>
        </p:blipFill>
        <p:spPr>
          <a:xfrm>
            <a:off x="1184259" y="4229674"/>
            <a:ext cx="398227" cy="39822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7" name="Google Shape;477;p34"/>
          <p:cNvPicPr preferRelativeResize="0"/>
          <p:nvPr/>
        </p:nvPicPr>
        <p:blipFill>
          <a:blip r:embed="rId38">
            <a:alphaModFix/>
          </a:blip>
          <a:stretch>
            <a:fillRect/>
          </a:stretch>
        </p:blipFill>
        <p:spPr>
          <a:xfrm>
            <a:off x="1743659" y="4229672"/>
            <a:ext cx="398227" cy="39822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8" name="Google Shape;478;p34"/>
          <p:cNvPicPr preferRelativeResize="0"/>
          <p:nvPr/>
        </p:nvPicPr>
        <p:blipFill>
          <a:blip r:embed="rId39">
            <a:alphaModFix/>
          </a:blip>
          <a:stretch>
            <a:fillRect/>
          </a:stretch>
        </p:blipFill>
        <p:spPr>
          <a:xfrm>
            <a:off x="2303041" y="4244975"/>
            <a:ext cx="367578" cy="367578"/>
          </a:xfrm>
          <a:prstGeom prst="rect">
            <a:avLst/>
          </a:prstGeom>
          <a:noFill/>
          <a:ln>
            <a:noFill/>
          </a:ln>
        </p:spPr>
      </p:pic>
      <p:pic>
        <p:nvPicPr>
          <p:cNvPr id="479" name="Google Shape;479;p34"/>
          <p:cNvPicPr preferRelativeResize="0"/>
          <p:nvPr/>
        </p:nvPicPr>
        <p:blipFill>
          <a:blip r:embed="rId40">
            <a:alphaModFix/>
          </a:blip>
          <a:stretch>
            <a:fillRect/>
          </a:stretch>
        </p:blipFill>
        <p:spPr>
          <a:xfrm>
            <a:off x="2831780" y="4196644"/>
            <a:ext cx="464283" cy="464283"/>
          </a:xfrm>
          <a:prstGeom prst="rect">
            <a:avLst/>
          </a:prstGeom>
          <a:noFill/>
          <a:ln>
            <a:noFill/>
          </a:ln>
        </p:spPr>
      </p:pic>
      <p:pic>
        <p:nvPicPr>
          <p:cNvPr id="480" name="Google Shape;480;p34"/>
          <p:cNvPicPr preferRelativeResize="0"/>
          <p:nvPr/>
        </p:nvPicPr>
        <p:blipFill>
          <a:blip r:embed="rId41">
            <a:alphaModFix/>
          </a:blip>
          <a:stretch>
            <a:fillRect/>
          </a:stretch>
        </p:blipFill>
        <p:spPr>
          <a:xfrm>
            <a:off x="3391170" y="4196669"/>
            <a:ext cx="464261" cy="464236"/>
          </a:xfrm>
          <a:prstGeom prst="rect">
            <a:avLst/>
          </a:prstGeom>
          <a:noFill/>
          <a:ln>
            <a:noFill/>
          </a:ln>
        </p:spPr>
      </p:pic>
      <p:pic>
        <p:nvPicPr>
          <p:cNvPr id="481" name="Google Shape;481;p34"/>
          <p:cNvPicPr preferRelativeResize="0"/>
          <p:nvPr/>
        </p:nvPicPr>
        <p:blipFill>
          <a:blip r:embed="rId42">
            <a:alphaModFix/>
          </a:blip>
          <a:stretch>
            <a:fillRect/>
          </a:stretch>
        </p:blipFill>
        <p:spPr>
          <a:xfrm>
            <a:off x="4410222" y="1666775"/>
            <a:ext cx="522225" cy="522244"/>
          </a:xfrm>
          <a:prstGeom prst="rect">
            <a:avLst/>
          </a:prstGeom>
          <a:noFill/>
          <a:ln>
            <a:noFill/>
          </a:ln>
        </p:spPr>
      </p:pic>
      <p:pic>
        <p:nvPicPr>
          <p:cNvPr id="482" name="Google Shape;482;p34"/>
          <p:cNvPicPr preferRelativeResize="0"/>
          <p:nvPr/>
        </p:nvPicPr>
        <p:blipFill>
          <a:blip r:embed="rId43">
            <a:alphaModFix/>
          </a:blip>
          <a:stretch>
            <a:fillRect/>
          </a:stretch>
        </p:blipFill>
        <p:spPr>
          <a:xfrm>
            <a:off x="5069650" y="1666775"/>
            <a:ext cx="522200" cy="52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3" name="Google Shape;483;p34"/>
          <p:cNvPicPr preferRelativeResize="0"/>
          <p:nvPr/>
        </p:nvPicPr>
        <p:blipFill>
          <a:blip r:embed="rId44">
            <a:alphaModFix/>
          </a:blip>
          <a:stretch>
            <a:fillRect/>
          </a:stretch>
        </p:blipFill>
        <p:spPr>
          <a:xfrm>
            <a:off x="5799375" y="1653475"/>
            <a:ext cx="522225" cy="522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4" name="Google Shape;484;p34"/>
          <p:cNvPicPr preferRelativeResize="0"/>
          <p:nvPr/>
        </p:nvPicPr>
        <p:blipFill>
          <a:blip r:embed="rId45">
            <a:alphaModFix/>
          </a:blip>
          <a:stretch>
            <a:fillRect/>
          </a:stretch>
        </p:blipFill>
        <p:spPr>
          <a:xfrm>
            <a:off x="6529125" y="1637825"/>
            <a:ext cx="522225" cy="522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5" name="Google Shape;485;p34"/>
          <p:cNvPicPr preferRelativeResize="0"/>
          <p:nvPr/>
        </p:nvPicPr>
        <p:blipFill>
          <a:blip r:embed="rId46">
            <a:alphaModFix/>
          </a:blip>
          <a:stretch>
            <a:fillRect/>
          </a:stretch>
        </p:blipFill>
        <p:spPr>
          <a:xfrm>
            <a:off x="7316100" y="1674613"/>
            <a:ext cx="522200" cy="52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6" name="Google Shape;486;p34"/>
          <p:cNvPicPr preferRelativeResize="0"/>
          <p:nvPr/>
        </p:nvPicPr>
        <p:blipFill>
          <a:blip r:embed="rId47">
            <a:alphaModFix/>
          </a:blip>
          <a:stretch>
            <a:fillRect/>
          </a:stretch>
        </p:blipFill>
        <p:spPr>
          <a:xfrm>
            <a:off x="8025075" y="1666775"/>
            <a:ext cx="488975" cy="488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7" name="Google Shape;487;p34"/>
          <p:cNvPicPr preferRelativeResize="0"/>
          <p:nvPr/>
        </p:nvPicPr>
        <p:blipFill>
          <a:blip r:embed="rId48">
            <a:alphaModFix/>
          </a:blip>
          <a:stretch>
            <a:fillRect/>
          </a:stretch>
        </p:blipFill>
        <p:spPr>
          <a:xfrm>
            <a:off x="376738" y="3138325"/>
            <a:ext cx="413450" cy="413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8" name="Google Shape;488;p34"/>
          <p:cNvPicPr preferRelativeResize="0"/>
          <p:nvPr/>
        </p:nvPicPr>
        <p:blipFill>
          <a:blip r:embed="rId49">
            <a:alphaModFix/>
          </a:blip>
          <a:stretch>
            <a:fillRect/>
          </a:stretch>
        </p:blipFill>
        <p:spPr>
          <a:xfrm>
            <a:off x="1528200" y="3132062"/>
            <a:ext cx="368500" cy="36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9" name="Google Shape;489;p34"/>
          <p:cNvPicPr preferRelativeResize="0"/>
          <p:nvPr/>
        </p:nvPicPr>
        <p:blipFill>
          <a:blip r:embed="rId50">
            <a:alphaModFix/>
          </a:blip>
          <a:stretch>
            <a:fillRect/>
          </a:stretch>
        </p:blipFill>
        <p:spPr>
          <a:xfrm>
            <a:off x="2081450" y="3127025"/>
            <a:ext cx="413450" cy="413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0" name="Google Shape;490;p34"/>
          <p:cNvPicPr preferRelativeResize="0"/>
          <p:nvPr/>
        </p:nvPicPr>
        <p:blipFill>
          <a:blip r:embed="rId51">
            <a:alphaModFix/>
          </a:blip>
          <a:stretch>
            <a:fillRect/>
          </a:stretch>
        </p:blipFill>
        <p:spPr>
          <a:xfrm>
            <a:off x="3291191" y="3138325"/>
            <a:ext cx="455725" cy="455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1" name="Google Shape;491;p34"/>
          <p:cNvPicPr preferRelativeResize="0"/>
          <p:nvPr/>
        </p:nvPicPr>
        <p:blipFill>
          <a:blip r:embed="rId52">
            <a:alphaModFix/>
          </a:blip>
          <a:stretch>
            <a:fillRect/>
          </a:stretch>
        </p:blipFill>
        <p:spPr>
          <a:xfrm>
            <a:off x="1697925" y="1686163"/>
            <a:ext cx="447924" cy="447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492" name="Google Shape;492;p34"/>
          <p:cNvPicPr preferRelativeResize="0"/>
          <p:nvPr/>
        </p:nvPicPr>
        <p:blipFill>
          <a:blip r:embed="rId53">
            <a:alphaModFix/>
          </a:blip>
          <a:stretch>
            <a:fillRect/>
          </a:stretch>
        </p:blipFill>
        <p:spPr>
          <a:xfrm>
            <a:off x="2401927" y="416427"/>
            <a:ext cx="368525" cy="36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3" name="Google Shape;493;p34"/>
          <p:cNvPicPr preferRelativeResize="0"/>
          <p:nvPr/>
        </p:nvPicPr>
        <p:blipFill>
          <a:blip r:embed="rId54">
            <a:alphaModFix/>
          </a:blip>
          <a:stretch>
            <a:fillRect/>
          </a:stretch>
        </p:blipFill>
        <p:spPr>
          <a:xfrm>
            <a:off x="2921299" y="315600"/>
            <a:ext cx="455725" cy="455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4" name="Google Shape;494;p34"/>
          <p:cNvPicPr preferRelativeResize="0"/>
          <p:nvPr/>
        </p:nvPicPr>
        <p:blipFill>
          <a:blip r:embed="rId55">
            <a:alphaModFix/>
          </a:blip>
          <a:stretch>
            <a:fillRect/>
          </a:stretch>
        </p:blipFill>
        <p:spPr>
          <a:xfrm>
            <a:off x="5043000" y="3082200"/>
            <a:ext cx="522200" cy="52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5" name="Google Shape;495;p34"/>
          <p:cNvPicPr preferRelativeResize="0"/>
          <p:nvPr/>
        </p:nvPicPr>
        <p:blipFill>
          <a:blip r:embed="rId55">
            <a:alphaModFix/>
          </a:blip>
          <a:stretch>
            <a:fillRect/>
          </a:stretch>
        </p:blipFill>
        <p:spPr>
          <a:xfrm flipH="1" rot="10800000">
            <a:off x="5752600" y="3055225"/>
            <a:ext cx="522200" cy="52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6" name="Google Shape;496;p34"/>
          <p:cNvPicPr preferRelativeResize="0"/>
          <p:nvPr/>
        </p:nvPicPr>
        <p:blipFill>
          <a:blip r:embed="rId56">
            <a:alphaModFix/>
          </a:blip>
          <a:stretch>
            <a:fillRect/>
          </a:stretch>
        </p:blipFill>
        <p:spPr>
          <a:xfrm>
            <a:off x="7278950" y="3055200"/>
            <a:ext cx="522225" cy="522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7" name="Google Shape;497;p34"/>
          <p:cNvPicPr preferRelativeResize="0"/>
          <p:nvPr/>
        </p:nvPicPr>
        <p:blipFill>
          <a:blip r:embed="rId57">
            <a:alphaModFix/>
          </a:blip>
          <a:stretch>
            <a:fillRect/>
          </a:stretch>
        </p:blipFill>
        <p:spPr>
          <a:xfrm>
            <a:off x="6592629" y="3055200"/>
            <a:ext cx="488975" cy="489009"/>
          </a:xfrm>
          <a:prstGeom prst="rect">
            <a:avLst/>
          </a:prstGeom>
          <a:noFill/>
          <a:ln>
            <a:noFill/>
          </a:ln>
        </p:spPr>
      </p:pic>
      <p:pic>
        <p:nvPicPr>
          <p:cNvPr id="498" name="Google Shape;498;p34"/>
          <p:cNvPicPr preferRelativeResize="0"/>
          <p:nvPr/>
        </p:nvPicPr>
        <p:blipFill>
          <a:blip r:embed="rId58">
            <a:alphaModFix/>
          </a:blip>
          <a:stretch>
            <a:fillRect/>
          </a:stretch>
        </p:blipFill>
        <p:spPr>
          <a:xfrm>
            <a:off x="8025075" y="3038588"/>
            <a:ext cx="522225" cy="522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9" name="Google Shape;499;p34"/>
          <p:cNvPicPr preferRelativeResize="0"/>
          <p:nvPr/>
        </p:nvPicPr>
        <p:blipFill>
          <a:blip r:embed="rId59">
            <a:alphaModFix/>
          </a:blip>
          <a:stretch>
            <a:fillRect/>
          </a:stretch>
        </p:blipFill>
        <p:spPr>
          <a:xfrm>
            <a:off x="338975" y="2327263"/>
            <a:ext cx="488975" cy="488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0" name="Google Shape;500;p34"/>
          <p:cNvPicPr preferRelativeResize="0"/>
          <p:nvPr/>
        </p:nvPicPr>
        <p:blipFill>
          <a:blip r:embed="rId60">
            <a:alphaModFix/>
          </a:blip>
          <a:stretch>
            <a:fillRect/>
          </a:stretch>
        </p:blipFill>
        <p:spPr>
          <a:xfrm>
            <a:off x="986388" y="2343888"/>
            <a:ext cx="455725" cy="455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1" name="Google Shape;501;p34"/>
          <p:cNvPicPr preferRelativeResize="0"/>
          <p:nvPr/>
        </p:nvPicPr>
        <p:blipFill>
          <a:blip r:embed="rId61">
            <a:alphaModFix/>
          </a:blip>
          <a:stretch>
            <a:fillRect/>
          </a:stretch>
        </p:blipFill>
        <p:spPr>
          <a:xfrm>
            <a:off x="1673400" y="2365025"/>
            <a:ext cx="455725" cy="455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2" name="Google Shape;502;p34"/>
          <p:cNvPicPr preferRelativeResize="0"/>
          <p:nvPr/>
        </p:nvPicPr>
        <p:blipFill>
          <a:blip r:embed="rId62">
            <a:alphaModFix/>
          </a:blip>
          <a:stretch>
            <a:fillRect/>
          </a:stretch>
        </p:blipFill>
        <p:spPr>
          <a:xfrm>
            <a:off x="2360425" y="2277388"/>
            <a:ext cx="522200" cy="52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3" name="Google Shape;503;p34"/>
          <p:cNvPicPr preferRelativeResize="0"/>
          <p:nvPr/>
        </p:nvPicPr>
        <p:blipFill>
          <a:blip r:embed="rId63">
            <a:alphaModFix/>
          </a:blip>
          <a:stretch>
            <a:fillRect/>
          </a:stretch>
        </p:blipFill>
        <p:spPr>
          <a:xfrm>
            <a:off x="3159775" y="2334050"/>
            <a:ext cx="447924" cy="447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504" name="Google Shape;504;p34"/>
          <p:cNvPicPr preferRelativeResize="0"/>
          <p:nvPr/>
        </p:nvPicPr>
        <p:blipFill>
          <a:blip r:embed="rId64">
            <a:alphaModFix/>
          </a:blip>
          <a:stretch>
            <a:fillRect/>
          </a:stretch>
        </p:blipFill>
        <p:spPr>
          <a:xfrm>
            <a:off x="4487075" y="2368925"/>
            <a:ext cx="447924" cy="447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505" name="Google Shape;505;p34"/>
          <p:cNvPicPr preferRelativeResize="0"/>
          <p:nvPr/>
        </p:nvPicPr>
        <p:blipFill>
          <a:blip r:embed="rId65">
            <a:alphaModFix/>
          </a:blip>
          <a:stretch>
            <a:fillRect/>
          </a:stretch>
        </p:blipFill>
        <p:spPr>
          <a:xfrm>
            <a:off x="3863152" y="2366752"/>
            <a:ext cx="447924" cy="447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506" name="Google Shape;506;p34"/>
          <p:cNvPicPr preferRelativeResize="0"/>
          <p:nvPr/>
        </p:nvPicPr>
        <p:blipFill>
          <a:blip r:embed="rId66">
            <a:alphaModFix/>
          </a:blip>
          <a:stretch>
            <a:fillRect/>
          </a:stretch>
        </p:blipFill>
        <p:spPr>
          <a:xfrm>
            <a:off x="4672325" y="4123575"/>
            <a:ext cx="488975" cy="488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7" name="Google Shape;507;p34"/>
          <p:cNvPicPr preferRelativeResize="0"/>
          <p:nvPr/>
        </p:nvPicPr>
        <p:blipFill>
          <a:blip r:embed="rId67">
            <a:alphaModFix/>
          </a:blip>
          <a:stretch>
            <a:fillRect/>
          </a:stretch>
        </p:blipFill>
        <p:spPr>
          <a:xfrm>
            <a:off x="5337300" y="4103450"/>
            <a:ext cx="488975" cy="488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8" name="Google Shape;508;p34"/>
          <p:cNvPicPr preferRelativeResize="0"/>
          <p:nvPr/>
        </p:nvPicPr>
        <p:blipFill>
          <a:blip r:embed="rId68">
            <a:alphaModFix/>
          </a:blip>
          <a:stretch>
            <a:fillRect/>
          </a:stretch>
        </p:blipFill>
        <p:spPr>
          <a:xfrm>
            <a:off x="4004469" y="4149692"/>
            <a:ext cx="464283" cy="464283"/>
          </a:xfrm>
          <a:prstGeom prst="rect">
            <a:avLst/>
          </a:prstGeom>
          <a:noFill/>
          <a:ln>
            <a:noFill/>
          </a:ln>
        </p:spPr>
      </p:pic>
      <p:pic>
        <p:nvPicPr>
          <p:cNvPr id="509" name="Google Shape;509;p34"/>
          <p:cNvPicPr preferRelativeResize="0"/>
          <p:nvPr/>
        </p:nvPicPr>
        <p:blipFill>
          <a:blip r:embed="rId69">
            <a:alphaModFix/>
          </a:blip>
          <a:stretch>
            <a:fillRect/>
          </a:stretch>
        </p:blipFill>
        <p:spPr>
          <a:xfrm>
            <a:off x="5161300" y="2391088"/>
            <a:ext cx="488975" cy="488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0" name="Google Shape;510;p34"/>
          <p:cNvPicPr preferRelativeResize="0"/>
          <p:nvPr/>
        </p:nvPicPr>
        <p:blipFill>
          <a:blip r:embed="rId70">
            <a:alphaModFix/>
          </a:blip>
          <a:stretch>
            <a:fillRect/>
          </a:stretch>
        </p:blipFill>
        <p:spPr>
          <a:xfrm>
            <a:off x="6331349" y="4149675"/>
            <a:ext cx="522243" cy="522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1" name="Google Shape;511;p34"/>
          <p:cNvPicPr preferRelativeResize="0"/>
          <p:nvPr/>
        </p:nvPicPr>
        <p:blipFill>
          <a:blip r:embed="rId71">
            <a:alphaModFix/>
          </a:blip>
          <a:stretch>
            <a:fillRect/>
          </a:stretch>
        </p:blipFill>
        <p:spPr>
          <a:xfrm>
            <a:off x="6989637" y="4166676"/>
            <a:ext cx="488242" cy="488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2" name="Google Shape;512;p34"/>
          <p:cNvPicPr preferRelativeResize="0"/>
          <p:nvPr/>
        </p:nvPicPr>
        <p:blipFill>
          <a:blip r:embed="rId72">
            <a:alphaModFix/>
          </a:blip>
          <a:stretch>
            <a:fillRect/>
          </a:stretch>
        </p:blipFill>
        <p:spPr>
          <a:xfrm>
            <a:off x="7613924" y="4166686"/>
            <a:ext cx="488242" cy="488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3" name="Google Shape;513;p34"/>
          <p:cNvPicPr preferRelativeResize="0"/>
          <p:nvPr/>
        </p:nvPicPr>
        <p:blipFill>
          <a:blip r:embed="rId73">
            <a:alphaModFix/>
          </a:blip>
          <a:stretch>
            <a:fillRect/>
          </a:stretch>
        </p:blipFill>
        <p:spPr>
          <a:xfrm>
            <a:off x="8169315" y="4166686"/>
            <a:ext cx="488242" cy="488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4" name="Google Shape;514;p34"/>
          <p:cNvPicPr preferRelativeResize="0"/>
          <p:nvPr/>
        </p:nvPicPr>
        <p:blipFill>
          <a:blip r:embed="rId74">
            <a:alphaModFix/>
          </a:blip>
          <a:stretch>
            <a:fillRect/>
          </a:stretch>
        </p:blipFill>
        <p:spPr>
          <a:xfrm>
            <a:off x="5876575" y="2329673"/>
            <a:ext cx="521825" cy="521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5" name="Google Shape;515;p34"/>
          <p:cNvPicPr preferRelativeResize="0"/>
          <p:nvPr/>
        </p:nvPicPr>
        <p:blipFill>
          <a:blip r:embed="rId75">
            <a:alphaModFix/>
          </a:blip>
          <a:stretch>
            <a:fillRect/>
          </a:stretch>
        </p:blipFill>
        <p:spPr>
          <a:xfrm>
            <a:off x="6624700" y="2363136"/>
            <a:ext cx="488975" cy="488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